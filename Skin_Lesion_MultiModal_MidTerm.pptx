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7" r:id="rId18"/>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7"/>
                </a:solidFill>
                <a:latin typeface="Calibri"/>
              </a:defRPr>
            </a:pPr>
            <a:r>
              <a:rPr sz="1400" b="0" i="0" u="none" strike="noStrike">
                <a:solidFill>
                  <a:srgbClr val="1F2A37"/>
                </a:solidFill>
                <a:latin typeface="Calibri"/>
              </a:rPr>
              <a:t>Images per class (58:1 imbalance, NV vs DF)</a:t>
            </a:r>
          </a:p>
        </c:rich>
      </c:tx>
      <c:layout/>
      <c:overlay val="0"/>
    </c:title>
    <c:autoTitleDeleted val="0"/>
    <c:plotArea>
      <c:layout/>
      <c:barChart>
        <c:barDir val="bar"/>
        <c:grouping val="clustered"/>
        <c:varyColors val="0"/>
        <c:ser>
          <c:idx val="0"/>
          <c:order val="0"/>
          <c:tx>
            <c:strRef>
              <c:f>Sheet1!$B$1</c:f>
              <c:strCache>
                <c:ptCount val="1"/>
                <c:pt idx="0">
                  <c:v>Images</c:v>
                </c:pt>
              </c:strCache>
            </c:strRef>
          </c:tx>
          <c:spPr>
            <a:solidFill>
              <a:srgbClr val="1B8A93"/>
            </a:solidFill>
            <a:effectLst/>
          </c:spPr>
          <c:invertIfNegative val="0"/>
          <c:dLbls>
            <c:numFmt formatCode="#,##0" sourceLinked="0"/>
            <c:txPr>
              <a:bodyPr/>
              <a:lstStyle/>
              <a:p>
                <a:pPr>
                  <a:defRPr b="0" i="0" strike="noStrike" sz="1200" u="none">
                    <a:solidFill>
                      <a:srgbClr val="1F2A37"/>
                    </a:solidFill>
                    <a:latin typeface="Arial"/>
                  </a:defRPr>
                </a:pPr>
              </a:p>
            </c:txPr>
            <c:showLegendKey val="0"/>
            <c:showVal val="1"/>
            <c:showCatName val="0"/>
            <c:showSerName val="0"/>
            <c:showPercent val="0"/>
            <c:showBubbleSize val="0"/>
            <c:showLeaderLines val="0"/>
          </c:dLbls>
          <c:cat>
            <c:multiLvlStrRef>
              <c:f>Sheet1!$A$2:$A$8</c:f>
              <c:multiLvlStrCache>
                <c:ptCount val="7"/>
                <c:lvl>
                  <c:pt idx="0">
                    <c:v>NV (nevus)</c:v>
                  </c:pt>
                  <c:pt idx="1">
                    <c:v>MEL (melanoma)</c:v>
                  </c:pt>
                  <c:pt idx="2">
                    <c:v>BKL (benign keratosis)</c:v>
                  </c:pt>
                  <c:pt idx="3">
                    <c:v>BCC (basal cell ca.)</c:v>
                  </c:pt>
                  <c:pt idx="4">
                    <c:v>AKIEC (actinic keratosis)</c:v>
                  </c:pt>
                  <c:pt idx="5">
                    <c:v>VASC (vascular)</c:v>
                  </c:pt>
                  <c:pt idx="6">
                    <c:v>DF (dermatofibroma)</c:v>
                  </c:pt>
                </c:lvl>
              </c:multiLvlStrCache>
            </c:multiLvlStrRef>
          </c:cat>
          <c:val>
            <c:numRef>
              <c:f>Sheet1!$B$2:$B$8</c:f>
              <c:numCache>
                <c:formatCode>General</c:formatCode>
                <c:ptCount val="7"/>
                <c:pt idx="0">
                  <c:v>6705</c:v>
                </c:pt>
                <c:pt idx="1">
                  <c:v>1113</c:v>
                </c:pt>
                <c:pt idx="2">
                  <c:v>1099</c:v>
                </c:pt>
                <c:pt idx="3">
                  <c:v>514</c:v>
                </c:pt>
                <c:pt idx="4">
                  <c:v>327</c:v>
                </c:pt>
                <c:pt idx="5">
                  <c:v>142</c:v>
                </c:pt>
                <c:pt idx="6">
                  <c:v>115</c:v>
                </c:pt>
              </c:numCache>
            </c:numRef>
          </c:val>
        </c:ser>
        <c:dLbls>
          <c:numFmt formatCode="#,##0" sourceLinked="0"/>
          <c:txPr>
            <a:bodyPr/>
            <a:lstStyle/>
            <a:p>
              <a:pPr>
                <a:defRPr b="0" i="0" strike="noStrike" sz="1200" u="none">
                  <a:solidFill>
                    <a:srgbClr val="1F2A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37"/>
                </a:solidFill>
                <a:latin typeface="Arial"/>
              </a:defRPr>
            </a:pPr>
            <a:endParaRPr lang="en-US"/>
          </a:p>
        </c:txPr>
        <c:crossAx val="2094734552"/>
        <c:crosses val="autoZero"/>
        <c:auto val="1"/>
        <c:lblAlgn val="ctr"/>
        <c:noMultiLvlLbl val="1"/>
      </c:catAx>
      <c:valAx>
        <c:axId val="2094734552"/>
        <c:scaling>
          <c:orientation val="minMax"/>
          <c:max val="8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both team members and the project title. One line pitch: we combine what the clinician sees (the dermoscopic image) with what the clinician knows (age, sex, lesion site) to classify skin lesions. State up front that this is a mid-term update: the pipeline is built, a first baseline is measured, and the main experiments are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clinical context. The statistics come from the reference paper (Das et al., 2025), which cites Kavita et al. (2023) for the incidence rise and Haenssle et al. (2018) for the CNN vs dermatologist comparison. Before quoting the +215.7% figure, check the scope of that source in the original paper. The key message: images are powerful but a clinician also uses age, sex and lesion location, which is exactly what multimodal learning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card: why current practice and image-only AI fall short. Right card: why a multimodal, explainable, efficient approach is worth building. Emphasise that a clinician never looks at a lesion in isolation: age and body site change how suspicious a lesion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HAM10000 is a public dermoscopy dataset with metadata (age, sex, lesion location, diagnosis-confirmation type). The chart shows the main difficulty: nevus is about 67 percent of the images while dermatofibroma has only 115. HAM10000 has several images per lesion, so we split by lesion so near-duplicates never land in both training and test. Imputation, encoding and scaling are fitted on the training set only, and balancing/augmentation touch only the training set. The split sizes are from our actual run. The callout is the key point of difference from the reference paper (Das, Agarwal and Shetty, 2025): its own Table 2 lists 115 DF images in total, yet its confusion matrix shows 435 DF test samples, which suggests replicated images in the test set. Word this carefully: it 'appears' to. This is also why our numbers will probably be lower than the paper's 98.86 percent. Diagnosis-confirmation type is determined after diagnosis and nearly reveals the label, so we exclude it from the clinical features. Images are resized to 224 x 224 and normalised with ImageNet statistics, as DenseNet121 expects. Instead of fixed replication, each training epoch samples 2,000 images per class, so rare classes are seen more often with a fresh random augmentation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then use the four numbered points below it. The dermoscopic image is resized and normalised, then passed through DenseNet121 pretrained on ImageNet, which outputs a 7 x 7 x 1024 feature map. The attention block, shown in coral, is our contribution: it re-weights this feature map spatially before global average pooling produces a 1024-dimensional vector. The clinical data (age, sex, lesion site) pass through a small MLP to a 64-dimensional vector. The two vectors are concatenated (1088 values), passed through a dense layer, and classified into seven classes. The abbreviations panel on the right lists the full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attention block designed with our mentor. The input feature map F passes through three paths, each producing an H x W x 1 map: a 1 x 1 convolution, channel-wise max pooling, and channel-wise average pooling whose output is reshaped to 1 x HW, passed through a sigmoid and multiplied with the average map. The three maps are concatenated, mixed by another 1 x 1 convolution and a sigmoid to give the attention map M, and F is multiplied by M through the identity path. The block has only 1,029 trainable parameters, compared with about 132 thousand for SE or CBAM, which we use as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happens in two phases. First the DenseNet121 backbone is frozen and only the attention block, clinical MLP and classifier learn, so the new layers do not disturb the pretrained features. Then the last 150 backbone layers are unfrozen and fine-tuned with a ten times lower learning rate, with early stopping on validation loss. BatchNorm layers stay frozen because our batches are small. Mixed precision keeps the model within the 6 GB GPU. The implementation moved from PyTorch to TensorFlow/Keras for this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trained result so far, so present it as a baseline, not a finding about the final system. The gap between accuracy (62.5%) and macro recall (0.39) says the model struggles on the rare classes. Because HAM10000 is dominated by nevus, accuracy alone is misleading: predicting nevus every time would give roughly 67% accuracy but be clinically useless. We therefore report macro metrics. If asked why the number is below the paper's 77%: different evaluation protocol (lesion-level split, untouched test set), and this model was trained on a class-balanced training set, which trades some accuracy for minority-class recall. The next step is to add the image branch and fusion, which is where we expect large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the pipeline and the full TensorFlow implementation are done and the first baseline is measured; the proposed model and its comparison models are the training runs now in progress; seed repeats, significance testing and external validation follow. Do not claim the framework is validated yet. The comparison with SE and CBAM, the seed repeats and external validation are what we hope makes the work publishable. Add dates here if your mentor has agreed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(1) Why is the clinical-only accuracy lower than the paper's 77%? Different evaluation protocol (lesion-level split, untouched test set) and this model was trained on a class-balanced set. (2) Why do you doubt the paper's 98.86%? Its own tables imply the test set contains replicated images. (3) What is new in your work? A lightweight spatial attention block (1,029 parameters) on DenseNet121, fused with clinical data, compared against SE and CBAM under a leakage-free protocol, with planned external validation. (4) Why not use Colab? Free GPU quota ran out mid-training, so training runs on a local RTX 3050 with resume checkpoints. (5) Why is accuracy below the 67% you would get by always predicting nevus? Balanced training data trades accuracy for minority-class recall; macro metrics are the fair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mentor and evaluator.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73A"/>
        </a:solidFill>
      </p:bgPr>
    </p:bg>
    <p:spTree>
      <p:nvGrpSpPr>
        <p:cNvPr id="1" name=""/>
        <p:cNvGrpSpPr/>
        <p:nvPr/>
      </p:nvGrpSpPr>
      <p:grpSpPr>
        <a:xfrm>
          <a:off x="0" y="0"/>
          <a:ext cx="0" cy="0"/>
          <a:chOff x="0" y="0"/>
          <a:chExt cx="0" cy="0"/>
        </a:xfrm>
      </p:grpSpPr>
      <p:sp>
        <p:nvSpPr>
          <p:cNvPr id="2" name="Text 0"/>
          <p:cNvSpPr txBox="1"/>
          <p:nvPr/>
        </p:nvSpPr>
        <p:spPr>
          <a:xfrm>
            <a:off x="640080" y="731520"/>
            <a:ext cx="7315200" cy="365760"/>
          </a:xfrm>
          <a:prstGeom prst="rect">
            <a:avLst/>
          </a:prstGeom>
          <a:noFill/>
          <a:ln/>
        </p:spPr>
        <p:txBody>
          <a:bodyPr wrap="square" lIns="0" tIns="0" rIns="0" bIns="0" rtlCol="0" anchor="ctr"/>
          <a:lstStyle/>
          <a:p>
            <a:pPr indent="0" marL="0">
              <a:buNone/>
            </a:pPr>
            <a:r>
              <a:rPr lang="en-US" sz="1400" b="1" spc="300" kern="0" dirty="0">
                <a:solidFill>
                  <a:srgbClr val="7FC8CE"/>
                </a:solidFill>
                <a:latin typeface="Calibri" pitchFamily="34" charset="0"/>
                <a:ea typeface="Calibri" pitchFamily="34" charset="-122"/>
                <a:cs typeface="Calibri" pitchFamily="34" charset="-120"/>
              </a:rPr>
              <a:t>MINOR PROJECT  |  MID-TERM EVALUATION</a:t>
            </a:r>
            <a:endParaRPr lang="en-US" sz="1400" dirty="0"/>
          </a:p>
        </p:txBody>
      </p:sp>
      <p:sp>
        <p:nvSpPr>
          <p:cNvPr id="3" name="Text 1"/>
          <p:cNvSpPr txBox="1"/>
          <p:nvPr/>
        </p:nvSpPr>
        <p:spPr>
          <a:xfrm>
            <a:off x="640080" y="1371600"/>
            <a:ext cx="6949440" cy="22860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 Multi-Modal Deep Learning Framework for Early Detection of Skin Diseases</a:t>
            </a:r>
            <a:endParaRPr lang="en-US" sz="3800" dirty="0"/>
          </a:p>
        </p:txBody>
      </p:sp>
      <p:sp>
        <p:nvSpPr>
          <p:cNvPr id="4" name="Text 2"/>
          <p:cNvSpPr txBox="1"/>
          <p:nvPr/>
        </p:nvSpPr>
        <p:spPr>
          <a:xfrm>
            <a:off x="640080" y="3794760"/>
            <a:ext cx="6766560" cy="457200"/>
          </a:xfrm>
          <a:prstGeom prst="rect">
            <a:avLst/>
          </a:prstGeom>
          <a:noFill/>
          <a:ln/>
        </p:spPr>
        <p:txBody>
          <a:bodyPr wrap="square" lIns="0" tIns="0" rIns="0" bIns="0" rtlCol="0" anchor="ctr"/>
          <a:lstStyle/>
          <a:p>
            <a:pPr indent="0" marL="0">
              <a:buNone/>
            </a:pPr>
            <a:r>
              <a:rPr lang="en-US" sz="1800" dirty="0">
                <a:solidFill>
                  <a:srgbClr val="CFE3E8"/>
                </a:solidFill>
                <a:latin typeface="Calibri" pitchFamily="34" charset="0"/>
                <a:ea typeface="Calibri" pitchFamily="34" charset="-122"/>
                <a:cs typeface="Calibri" pitchFamily="34" charset="-120"/>
              </a:rPr>
              <a:t>A DenseNet121 model with spatial attention that combines skin images and patient data (HAM10000)</a:t>
            </a:r>
            <a:endParaRPr lang="en-US" sz="1800" dirty="0"/>
          </a:p>
        </p:txBody>
      </p:sp>
      <p:sp>
        <p:nvSpPr>
          <p:cNvPr id="5" name="Text 3"/>
          <p:cNvSpPr txBox="1"/>
          <p:nvPr/>
        </p:nvSpPr>
        <p:spPr>
          <a:xfrm>
            <a:off x="640080" y="4937760"/>
            <a:ext cx="6949440" cy="1097280"/>
          </a:xfrm>
          <a:prstGeom prst="rect">
            <a:avLst/>
          </a:prstGeom>
          <a:noFill/>
          <a:ln/>
        </p:spPr>
        <p:txBody>
          <a:bodyPr wrap="square" lIns="0" tIns="0" rIns="0" bIns="0" rtlCol="0" anchor="ctr"/>
          <a:lstStyle/>
          <a:p>
            <a:pPr indent="0" marL="0">
              <a:spcAft>
                <a:spcPts val="400"/>
              </a:spcAft>
              <a:buNone/>
            </a:pPr>
            <a:r>
              <a:rPr lang="en-US" sz="1400" dirty="0">
                <a:solidFill>
                  <a:srgbClr val="9FB0BD"/>
                </a:solidFill>
                <a:latin typeface="Calibri" pitchFamily="34" charset="0"/>
                <a:ea typeface="Calibri" pitchFamily="34" charset="-122"/>
                <a:cs typeface="Calibri" pitchFamily="34" charset="-120"/>
              </a:rPr>
              <a:t>Presented by: Dilip Kohar (23BCP201)  |  Harichand Loniya (23BCP167)</a:t>
            </a:r>
            <a:endParaRPr lang="en-US" sz="1400" dirty="0"/>
          </a:p>
          <a:p>
            <a:pPr indent="0" marL="0">
              <a:spcAft>
                <a:spcPts val="400"/>
              </a:spcAft>
              <a:buNone/>
            </a:pPr>
            <a:r>
              <a:rPr lang="en-US" sz="1400" dirty="0">
                <a:solidFill>
                  <a:srgbClr val="9FB0BD"/>
                </a:solidFill>
                <a:latin typeface="Calibri" pitchFamily="34" charset="0"/>
                <a:ea typeface="Calibri" pitchFamily="34" charset="-122"/>
                <a:cs typeface="Calibri" pitchFamily="34" charset="-120"/>
              </a:rPr>
              <a:t>Mentor: Dr. Himanshu Gajera  |  Evaluator: Dr. Amit Singh</a:t>
            </a:r>
            <a:endParaRPr lang="en-US" sz="1400" dirty="0"/>
          </a:p>
          <a:p>
            <a:pPr indent="0" marL="0">
              <a:spcAft>
                <a:spcPts val="400"/>
              </a:spcAft>
              <a:buNone/>
            </a:pPr>
            <a:r>
              <a:rPr lang="en-US" sz="1400" dirty="0">
                <a:solidFill>
                  <a:srgbClr val="9FB0BD"/>
                </a:solidFill>
                <a:latin typeface="Calibri" pitchFamily="34" charset="0"/>
                <a:ea typeface="Calibri" pitchFamily="34" charset="-122"/>
                <a:cs typeface="Calibri" pitchFamily="34" charset="-120"/>
              </a:rPr>
              <a:t>Pandit Deendayal Energy University, School of Technology</a:t>
            </a:r>
            <a:endParaRPr lang="en-US" sz="1400" dirty="0"/>
          </a:p>
        </p:txBody>
      </p:sp>
      <p:sp>
        <p:nvSpPr>
          <p:cNvPr id="6" name="Shape 4"/>
          <p:cNvSpPr/>
          <p:nvPr/>
        </p:nvSpPr>
        <p:spPr>
          <a:xfrm>
            <a:off x="9372600" y="2606040"/>
            <a:ext cx="1097280" cy="685800"/>
          </a:xfrm>
          <a:prstGeom prst="line">
            <a:avLst/>
          </a:prstGeom>
          <a:noFill/>
          <a:ln w="31750">
            <a:solidFill>
              <a:srgbClr val="7FC8CE"/>
            </a:solidFill>
            <a:prstDash val="solid"/>
            <a:tailEnd type="triangle"/>
          </a:ln>
        </p:spPr>
      </p:sp>
      <p:sp>
        <p:nvSpPr>
          <p:cNvPr id="7" name="Shape 5"/>
          <p:cNvSpPr/>
          <p:nvPr/>
        </p:nvSpPr>
        <p:spPr>
          <a:xfrm flipV="1">
            <a:off x="9372600" y="4069080"/>
            <a:ext cx="1097280" cy="594360"/>
          </a:xfrm>
          <a:prstGeom prst="line">
            <a:avLst/>
          </a:prstGeom>
          <a:noFill/>
          <a:ln w="31750">
            <a:solidFill>
              <a:srgbClr val="7FC8CE"/>
            </a:solidFill>
            <a:prstDash val="solid"/>
            <a:tailEnd type="triangle"/>
          </a:ln>
        </p:spPr>
      </p:sp>
      <p:sp>
        <p:nvSpPr>
          <p:cNvPr id="8" name="Shape 6"/>
          <p:cNvSpPr/>
          <p:nvPr/>
        </p:nvSpPr>
        <p:spPr>
          <a:xfrm>
            <a:off x="8321040" y="1828800"/>
            <a:ext cx="1051560" cy="1051560"/>
          </a:xfrm>
          <a:prstGeom prst="ellipse">
            <a:avLst/>
          </a:prstGeom>
          <a:solidFill>
            <a:srgbClr val="1B8A93"/>
          </a:solidFill>
          <a:ln w="12700">
            <a:solidFill>
              <a:srgbClr val="1B8A93"/>
            </a:solidFill>
            <a:prstDash val="solid"/>
          </a:ln>
        </p:spPr>
      </p:sp>
      <p:pic>
        <p:nvPicPr>
          <p:cNvPr id="9" name="Image 0" descr="preencoded.png">    </p:cNvPr>
          <p:cNvPicPr>
            <a:picLocks noChangeAspect="1"/>
          </p:cNvPicPr>
          <p:nvPr/>
        </p:nvPicPr>
        <p:blipFill>
          <a:blip r:embed="rId1"/>
          <a:stretch>
            <a:fillRect/>
          </a:stretch>
        </p:blipFill>
        <p:spPr>
          <a:xfrm>
            <a:off x="8604961" y="2112721"/>
            <a:ext cx="483718" cy="483718"/>
          </a:xfrm>
          <a:prstGeom prst="rect">
            <a:avLst/>
          </a:prstGeom>
        </p:spPr>
      </p:pic>
      <p:sp>
        <p:nvSpPr>
          <p:cNvPr id="10" name="Shape 7"/>
          <p:cNvSpPr/>
          <p:nvPr/>
        </p:nvSpPr>
        <p:spPr>
          <a:xfrm>
            <a:off x="8321040" y="4206240"/>
            <a:ext cx="1051560" cy="1051560"/>
          </a:xfrm>
          <a:prstGeom prst="ellipse">
            <a:avLst/>
          </a:prstGeom>
          <a:solidFill>
            <a:srgbClr val="1B8A93"/>
          </a:solidFill>
          <a:ln w="12700">
            <a:solidFill>
              <a:srgbClr val="1B8A93"/>
            </a:solidFill>
            <a:prstDash val="solid"/>
          </a:ln>
        </p:spPr>
      </p:sp>
      <p:pic>
        <p:nvPicPr>
          <p:cNvPr id="11" name="Image 1" descr="preencoded.png">    </p:cNvPr>
          <p:cNvPicPr>
            <a:picLocks noChangeAspect="1"/>
          </p:cNvPicPr>
          <p:nvPr/>
        </p:nvPicPr>
        <p:blipFill>
          <a:blip r:embed="rId2"/>
          <a:stretch>
            <a:fillRect/>
          </a:stretch>
        </p:blipFill>
        <p:spPr>
          <a:xfrm>
            <a:off x="8604961" y="4490161"/>
            <a:ext cx="483718" cy="483718"/>
          </a:xfrm>
          <a:prstGeom prst="rect">
            <a:avLst/>
          </a:prstGeom>
        </p:spPr>
      </p:pic>
      <p:sp>
        <p:nvSpPr>
          <p:cNvPr id="12" name="Shape 8"/>
          <p:cNvSpPr/>
          <p:nvPr/>
        </p:nvSpPr>
        <p:spPr>
          <a:xfrm>
            <a:off x="10332720" y="2971800"/>
            <a:ext cx="1371600" cy="1371600"/>
          </a:xfrm>
          <a:prstGeom prst="ellipse">
            <a:avLst/>
          </a:prstGeom>
          <a:solidFill>
            <a:srgbClr val="E0674F"/>
          </a:solidFill>
          <a:ln w="12700">
            <a:solidFill>
              <a:srgbClr val="E0674F"/>
            </a:solidFill>
            <a:prstDash val="solid"/>
          </a:ln>
        </p:spPr>
      </p:sp>
      <p:pic>
        <p:nvPicPr>
          <p:cNvPr id="13" name="Image 2" descr="preencoded.png">    </p:cNvPr>
          <p:cNvPicPr>
            <a:picLocks noChangeAspect="1"/>
          </p:cNvPicPr>
          <p:nvPr/>
        </p:nvPicPr>
        <p:blipFill>
          <a:blip r:embed="rId3"/>
          <a:stretch>
            <a:fillRect/>
          </a:stretch>
        </p:blipFill>
        <p:spPr>
          <a:xfrm>
            <a:off x="10703052" y="3342132"/>
            <a:ext cx="630936" cy="630936"/>
          </a:xfrm>
          <a:prstGeom prst="rect">
            <a:avLst/>
          </a:prstGeom>
        </p:spPr>
      </p:pic>
      <p:sp>
        <p:nvSpPr>
          <p:cNvPr id="14" name="Text 9"/>
          <p:cNvSpPr txBox="1"/>
          <p:nvPr/>
        </p:nvSpPr>
        <p:spPr>
          <a:xfrm>
            <a:off x="7863840" y="2926080"/>
            <a:ext cx="1965960" cy="274320"/>
          </a:xfrm>
          <a:prstGeom prst="rect">
            <a:avLst/>
          </a:prstGeom>
          <a:noFill/>
          <a:ln/>
        </p:spPr>
        <p:txBody>
          <a:bodyPr wrap="square" lIns="0" tIns="0" rIns="0" bIns="0" rtlCol="0" anchor="ctr"/>
          <a:lstStyle/>
          <a:p>
            <a:pPr algn="ctr" indent="0" marL="0">
              <a:buNone/>
            </a:pPr>
            <a:r>
              <a:rPr lang="en-US" sz="1300" dirty="0">
                <a:solidFill>
                  <a:srgbClr val="CFE3E8"/>
                </a:solidFill>
                <a:latin typeface="Calibri" pitchFamily="34" charset="0"/>
                <a:ea typeface="Calibri" pitchFamily="34" charset="-122"/>
                <a:cs typeface="Calibri" pitchFamily="34" charset="-120"/>
              </a:rPr>
              <a:t>Image</a:t>
            </a:r>
            <a:endParaRPr lang="en-US" sz="1300" dirty="0"/>
          </a:p>
        </p:txBody>
      </p:sp>
      <p:sp>
        <p:nvSpPr>
          <p:cNvPr id="15" name="Text 10"/>
          <p:cNvSpPr txBox="1"/>
          <p:nvPr/>
        </p:nvSpPr>
        <p:spPr>
          <a:xfrm>
            <a:off x="7863840" y="5303520"/>
            <a:ext cx="1965960" cy="274320"/>
          </a:xfrm>
          <a:prstGeom prst="rect">
            <a:avLst/>
          </a:prstGeom>
          <a:noFill/>
          <a:ln/>
        </p:spPr>
        <p:txBody>
          <a:bodyPr wrap="square" lIns="0" tIns="0" rIns="0" bIns="0" rtlCol="0" anchor="ctr"/>
          <a:lstStyle/>
          <a:p>
            <a:pPr algn="ctr" indent="0" marL="0">
              <a:buNone/>
            </a:pPr>
            <a:r>
              <a:rPr lang="en-US" sz="1300" dirty="0">
                <a:solidFill>
                  <a:srgbClr val="CFE3E8"/>
                </a:solidFill>
                <a:latin typeface="Calibri" pitchFamily="34" charset="0"/>
                <a:ea typeface="Calibri" pitchFamily="34" charset="-122"/>
                <a:cs typeface="Calibri" pitchFamily="34" charset="-120"/>
              </a:rPr>
              <a:t>Clinical data</a:t>
            </a:r>
            <a:endParaRPr lang="en-US" sz="1300" dirty="0"/>
          </a:p>
        </p:txBody>
      </p:sp>
      <p:sp>
        <p:nvSpPr>
          <p:cNvPr id="16" name="Text 11"/>
          <p:cNvSpPr txBox="1"/>
          <p:nvPr/>
        </p:nvSpPr>
        <p:spPr>
          <a:xfrm>
            <a:off x="10104120" y="4389120"/>
            <a:ext cx="1828800" cy="274320"/>
          </a:xfrm>
          <a:prstGeom prst="rect">
            <a:avLst/>
          </a:prstGeom>
          <a:noFill/>
          <a:ln/>
        </p:spPr>
        <p:txBody>
          <a:bodyPr wrap="square" lIns="0" tIns="0" rIns="0" bIns="0" rtlCol="0" anchor="ctr"/>
          <a:lstStyle/>
          <a:p>
            <a:pPr algn="ctr" indent="0" marL="0">
              <a:buNone/>
            </a:pPr>
            <a:r>
              <a:rPr lang="en-US" sz="1300" dirty="0">
                <a:solidFill>
                  <a:srgbClr val="CFE3E8"/>
                </a:solidFill>
                <a:latin typeface="Calibri" pitchFamily="34" charset="0"/>
                <a:ea typeface="Calibri" pitchFamily="34" charset="-122"/>
                <a:cs typeface="Calibri" pitchFamily="34" charset="-120"/>
              </a:rPr>
              <a:t>Diagnosis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Introduction</a:t>
            </a:r>
            <a:endParaRPr lang="en-US" sz="3400" dirty="0"/>
          </a:p>
        </p:txBody>
      </p:sp>
      <p:sp>
        <p:nvSpPr>
          <p:cNvPr id="3" name="Text 1"/>
          <p:cNvSpPr txBox="1"/>
          <p:nvPr/>
        </p:nvSpPr>
        <p:spPr>
          <a:xfrm>
            <a:off x="548640" y="1737360"/>
            <a:ext cx="6309360" cy="42062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2A37"/>
                </a:solidFill>
                <a:latin typeface="Calibri" pitchFamily="34" charset="0"/>
                <a:ea typeface="Calibri" pitchFamily="34" charset="-122"/>
                <a:cs typeface="Calibri" pitchFamily="34" charset="-120"/>
              </a:rPr>
              <a:t>Skin cancer (melanoma, basal cell and squamous cell carcinoma) is a major health problem worldwide.</a:t>
            </a:r>
            <a:endParaRPr lang="en-US" sz="1800" dirty="0"/>
          </a:p>
          <a:p>
            <a:pPr marL="342900" indent="-342900">
              <a:spcAft>
                <a:spcPts val="1400"/>
              </a:spcAft>
              <a:buSzPct val="100000"/>
              <a:buChar char="•"/>
            </a:pPr>
            <a:r>
              <a:rPr lang="en-US" sz="1800" dirty="0">
                <a:solidFill>
                  <a:srgbClr val="1F2A37"/>
                </a:solidFill>
                <a:latin typeface="Calibri" pitchFamily="34" charset="0"/>
                <a:ea typeface="Calibri" pitchFamily="34" charset="-122"/>
                <a:cs typeface="Calibri" pitchFamily="34" charset="-120"/>
              </a:rPr>
              <a:t>Early detection allows simpler treatment, lower cost and better outcomes.</a:t>
            </a:r>
            <a:endParaRPr lang="en-US" sz="1800" dirty="0"/>
          </a:p>
          <a:p>
            <a:pPr marL="342900" indent="-342900">
              <a:spcAft>
                <a:spcPts val="1400"/>
              </a:spcAft>
              <a:buSzPct val="100000"/>
              <a:buChar char="•"/>
            </a:pPr>
            <a:r>
              <a:rPr lang="en-US" sz="1800" dirty="0">
                <a:solidFill>
                  <a:srgbClr val="1F2A37"/>
                </a:solidFill>
                <a:latin typeface="Calibri" pitchFamily="34" charset="0"/>
                <a:ea typeface="Calibri" pitchFamily="34" charset="-122"/>
                <a:cs typeface="Calibri" pitchFamily="34" charset="-120"/>
              </a:rPr>
              <a:t>Diagnosis depends on visual checks (ABCDE rule) and dermoscopy, which are subjective and need specialists.</a:t>
            </a:r>
            <a:endParaRPr lang="en-US" sz="1800" dirty="0"/>
          </a:p>
          <a:p>
            <a:pPr marL="342900" indent="-342900">
              <a:spcAft>
                <a:spcPts val="1400"/>
              </a:spcAft>
              <a:buSzPct val="100000"/>
              <a:buChar char="•"/>
            </a:pPr>
            <a:r>
              <a:rPr lang="en-US" sz="1800" dirty="0">
                <a:solidFill>
                  <a:srgbClr val="1F2A37"/>
                </a:solidFill>
                <a:latin typeface="Calibri" pitchFamily="34" charset="0"/>
                <a:ea typeface="Calibri" pitchFamily="34" charset="-122"/>
                <a:cs typeface="Calibri" pitchFamily="34" charset="-120"/>
              </a:rPr>
              <a:t>CNNs trained on skin images can match dermatologists, but they ignore patient information.</a:t>
            </a:r>
            <a:endParaRPr lang="en-US" sz="1800" dirty="0"/>
          </a:p>
        </p:txBody>
      </p:sp>
      <p:sp>
        <p:nvSpPr>
          <p:cNvPr id="4" name="Shape 2"/>
          <p:cNvSpPr/>
          <p:nvPr/>
        </p:nvSpPr>
        <p:spPr>
          <a:xfrm>
            <a:off x="7315200" y="1737360"/>
            <a:ext cx="4297680" cy="1280160"/>
          </a:xfrm>
          <a:prstGeom prst="roundRect">
            <a:avLst>
              <a:gd name="adj" fmla="val 8571"/>
            </a:avLst>
          </a:prstGeom>
          <a:solidFill>
            <a:srgbClr val="F1F6F8"/>
          </a:solidFill>
          <a:ln w="12700">
            <a:solidFill>
              <a:srgbClr val="F1F6F8"/>
            </a:solidFill>
            <a:prstDash val="solid"/>
          </a:ln>
        </p:spPr>
      </p:sp>
      <p:sp>
        <p:nvSpPr>
          <p:cNvPr id="5" name="Text 3"/>
          <p:cNvSpPr txBox="1"/>
          <p:nvPr/>
        </p:nvSpPr>
        <p:spPr>
          <a:xfrm>
            <a:off x="7589520" y="1847088"/>
            <a:ext cx="3749040" cy="548640"/>
          </a:xfrm>
          <a:prstGeom prst="rect">
            <a:avLst/>
          </a:prstGeom>
          <a:noFill/>
          <a:ln/>
        </p:spPr>
        <p:txBody>
          <a:bodyPr wrap="square" lIns="0" tIns="0" rIns="0" bIns="0" rtlCol="0" anchor="ctr"/>
          <a:lstStyle/>
          <a:p>
            <a:pPr indent="0" marL="0">
              <a:buNone/>
            </a:pPr>
            <a:r>
              <a:rPr lang="en-US" sz="3000" b="1" dirty="0">
                <a:solidFill>
                  <a:srgbClr val="1B8A93"/>
                </a:solidFill>
                <a:latin typeface="Cambria" pitchFamily="34" charset="0"/>
                <a:ea typeface="Cambria" pitchFamily="34" charset="-122"/>
                <a:cs typeface="Cambria" pitchFamily="34" charset="-120"/>
              </a:rPr>
              <a:t>5th</a:t>
            </a:r>
            <a:endParaRPr lang="en-US" sz="3000" dirty="0"/>
          </a:p>
        </p:txBody>
      </p:sp>
      <p:sp>
        <p:nvSpPr>
          <p:cNvPr id="6" name="Text 4"/>
          <p:cNvSpPr txBox="1"/>
          <p:nvPr/>
        </p:nvSpPr>
        <p:spPr>
          <a:xfrm>
            <a:off x="7589520" y="2423160"/>
            <a:ext cx="3749040" cy="5029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most widespread cancer type (skin cancer)</a:t>
            </a:r>
            <a:endParaRPr lang="en-US" sz="1300" dirty="0"/>
          </a:p>
        </p:txBody>
      </p:sp>
      <p:sp>
        <p:nvSpPr>
          <p:cNvPr id="7" name="Shape 5"/>
          <p:cNvSpPr/>
          <p:nvPr/>
        </p:nvSpPr>
        <p:spPr>
          <a:xfrm>
            <a:off x="7315200" y="3200400"/>
            <a:ext cx="4297680" cy="1280160"/>
          </a:xfrm>
          <a:prstGeom prst="roundRect">
            <a:avLst>
              <a:gd name="adj" fmla="val 8571"/>
            </a:avLst>
          </a:prstGeom>
          <a:solidFill>
            <a:srgbClr val="F1F6F8"/>
          </a:solidFill>
          <a:ln w="12700">
            <a:solidFill>
              <a:srgbClr val="F1F6F8"/>
            </a:solidFill>
            <a:prstDash val="solid"/>
          </a:ln>
        </p:spPr>
      </p:sp>
      <p:sp>
        <p:nvSpPr>
          <p:cNvPr id="8" name="Text 6"/>
          <p:cNvSpPr txBox="1"/>
          <p:nvPr/>
        </p:nvSpPr>
        <p:spPr>
          <a:xfrm>
            <a:off x="7589520" y="3310128"/>
            <a:ext cx="3749040" cy="548640"/>
          </a:xfrm>
          <a:prstGeom prst="rect">
            <a:avLst/>
          </a:prstGeom>
          <a:noFill/>
          <a:ln/>
        </p:spPr>
        <p:txBody>
          <a:bodyPr wrap="square" lIns="0" tIns="0" rIns="0" bIns="0" rtlCol="0" anchor="ctr"/>
          <a:lstStyle/>
          <a:p>
            <a:pPr indent="0" marL="0">
              <a:buNone/>
            </a:pPr>
            <a:r>
              <a:rPr lang="en-US" sz="3000" b="1" dirty="0">
                <a:solidFill>
                  <a:srgbClr val="E0674F"/>
                </a:solidFill>
                <a:latin typeface="Cambria" pitchFamily="34" charset="0"/>
                <a:ea typeface="Cambria" pitchFamily="34" charset="-122"/>
                <a:cs typeface="Cambria" pitchFamily="34" charset="-120"/>
              </a:rPr>
              <a:t>+215.7%</a:t>
            </a:r>
            <a:endParaRPr lang="en-US" sz="3000" dirty="0"/>
          </a:p>
        </p:txBody>
      </p:sp>
      <p:sp>
        <p:nvSpPr>
          <p:cNvPr id="9" name="Text 7"/>
          <p:cNvSpPr txBox="1"/>
          <p:nvPr/>
        </p:nvSpPr>
        <p:spPr>
          <a:xfrm>
            <a:off x="7589520" y="3886200"/>
            <a:ext cx="3749040" cy="5029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rise in melanoma incidence, 1990 to 2017 (as cited in Das et al., 2025)</a:t>
            </a:r>
            <a:endParaRPr lang="en-US" sz="1300" dirty="0"/>
          </a:p>
        </p:txBody>
      </p:sp>
      <p:sp>
        <p:nvSpPr>
          <p:cNvPr id="10" name="Shape 8"/>
          <p:cNvSpPr/>
          <p:nvPr/>
        </p:nvSpPr>
        <p:spPr>
          <a:xfrm>
            <a:off x="7315200" y="4663440"/>
            <a:ext cx="4297680" cy="1280160"/>
          </a:xfrm>
          <a:prstGeom prst="roundRect">
            <a:avLst>
              <a:gd name="adj" fmla="val 8571"/>
            </a:avLst>
          </a:prstGeom>
          <a:solidFill>
            <a:srgbClr val="F1F6F8"/>
          </a:solidFill>
          <a:ln w="12700">
            <a:solidFill>
              <a:srgbClr val="F1F6F8"/>
            </a:solidFill>
            <a:prstDash val="solid"/>
          </a:ln>
        </p:spPr>
      </p:sp>
      <p:sp>
        <p:nvSpPr>
          <p:cNvPr id="11" name="Text 9"/>
          <p:cNvSpPr txBox="1"/>
          <p:nvPr/>
        </p:nvSpPr>
        <p:spPr>
          <a:xfrm>
            <a:off x="7589520" y="4773168"/>
            <a:ext cx="3749040" cy="548640"/>
          </a:xfrm>
          <a:prstGeom prst="rect">
            <a:avLst/>
          </a:prstGeom>
          <a:noFill/>
          <a:ln/>
        </p:spPr>
        <p:txBody>
          <a:bodyPr wrap="square" lIns="0" tIns="0" rIns="0" bIns="0" rtlCol="0" anchor="ctr"/>
          <a:lstStyle/>
          <a:p>
            <a:pPr indent="0" marL="0">
              <a:buNone/>
            </a:pPr>
            <a:r>
              <a:rPr lang="en-US" sz="3000" b="1" dirty="0">
                <a:solidFill>
                  <a:srgbClr val="1B8A93"/>
                </a:solidFill>
                <a:latin typeface="Cambria" pitchFamily="34" charset="0"/>
                <a:ea typeface="Cambria" pitchFamily="34" charset="-122"/>
                <a:cs typeface="Cambria" pitchFamily="34" charset="-120"/>
              </a:rPr>
              <a:t>0.86 vs 0.79</a:t>
            </a:r>
            <a:endParaRPr lang="en-US" sz="3000" dirty="0"/>
          </a:p>
        </p:txBody>
      </p:sp>
      <p:sp>
        <p:nvSpPr>
          <p:cNvPr id="12" name="Text 10"/>
          <p:cNvSpPr txBox="1"/>
          <p:nvPr/>
        </p:nvSpPr>
        <p:spPr>
          <a:xfrm>
            <a:off x="7589520" y="5349240"/>
            <a:ext cx="3749040" cy="5029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mean AUC: CNN vs 58 dermatologists (Haenssle et al., 2018)</a:t>
            </a:r>
            <a:endParaRPr lang="en-US" sz="13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14" name="Text 12"/>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Problem &amp; Motivation</a:t>
            </a:r>
            <a:endParaRPr lang="en-US" sz="3400" dirty="0"/>
          </a:p>
        </p:txBody>
      </p:sp>
      <p:sp>
        <p:nvSpPr>
          <p:cNvPr id="3" name="Shape 1"/>
          <p:cNvSpPr/>
          <p:nvPr/>
        </p:nvSpPr>
        <p:spPr>
          <a:xfrm>
            <a:off x="548640" y="1737360"/>
            <a:ext cx="5468112" cy="4297680"/>
          </a:xfrm>
          <a:prstGeom prst="roundRect">
            <a:avLst>
              <a:gd name="adj" fmla="val 2553"/>
            </a:avLst>
          </a:prstGeom>
          <a:solidFill>
            <a:srgbClr val="F1F6F8"/>
          </a:solidFill>
          <a:ln w="12700">
            <a:solidFill>
              <a:srgbClr val="F1F6F8"/>
            </a:solidFill>
            <a:prstDash val="solid"/>
          </a:ln>
        </p:spPr>
      </p:sp>
      <p:sp>
        <p:nvSpPr>
          <p:cNvPr id="4" name="Shape 2"/>
          <p:cNvSpPr/>
          <p:nvPr/>
        </p:nvSpPr>
        <p:spPr>
          <a:xfrm>
            <a:off x="822960" y="1920240"/>
            <a:ext cx="548640" cy="548640"/>
          </a:xfrm>
          <a:prstGeom prst="ellipse">
            <a:avLst/>
          </a:prstGeom>
          <a:solidFill>
            <a:srgbClr val="E0674F"/>
          </a:solidFill>
          <a:ln w="12700">
            <a:solidFill>
              <a:srgbClr val="E0674F"/>
            </a:solidFill>
            <a:prstDash val="solid"/>
          </a:ln>
        </p:spPr>
      </p:sp>
      <p:pic>
        <p:nvPicPr>
          <p:cNvPr id="5" name="Image 0" descr="preencoded.png">    </p:cNvPr>
          <p:cNvPicPr>
            <a:picLocks noChangeAspect="1"/>
          </p:cNvPicPr>
          <p:nvPr/>
        </p:nvPicPr>
        <p:blipFill>
          <a:blip r:embed="rId1"/>
          <a:stretch>
            <a:fillRect/>
          </a:stretch>
        </p:blipFill>
        <p:spPr>
          <a:xfrm>
            <a:off x="971093" y="2068373"/>
            <a:ext cx="252374" cy="252374"/>
          </a:xfrm>
          <a:prstGeom prst="rect">
            <a:avLst/>
          </a:prstGeom>
        </p:spPr>
      </p:pic>
      <p:sp>
        <p:nvSpPr>
          <p:cNvPr id="6" name="Text 3"/>
          <p:cNvSpPr txBox="1"/>
          <p:nvPr/>
        </p:nvSpPr>
        <p:spPr>
          <a:xfrm>
            <a:off x="1554480" y="1920240"/>
            <a:ext cx="4114800" cy="548640"/>
          </a:xfrm>
          <a:prstGeom prst="rect">
            <a:avLst/>
          </a:prstGeom>
          <a:noFill/>
          <a:ln/>
        </p:spPr>
        <p:txBody>
          <a:bodyPr wrap="square" lIns="0" tIns="0" rIns="0" bIns="0" rtlCol="0" anchor="ctr"/>
          <a:lstStyle/>
          <a:p>
            <a:pPr indent="0" marL="0">
              <a:buNone/>
            </a:pPr>
            <a:r>
              <a:rPr lang="en-US" sz="2200" b="1" dirty="0">
                <a:solidFill>
                  <a:srgbClr val="10273A"/>
                </a:solidFill>
                <a:latin typeface="Cambria" pitchFamily="34" charset="0"/>
                <a:ea typeface="Cambria" pitchFamily="34" charset="-122"/>
                <a:cs typeface="Cambria" pitchFamily="34" charset="-120"/>
              </a:rPr>
              <a:t>Research problem</a:t>
            </a:r>
            <a:endParaRPr lang="en-US" sz="2200" dirty="0"/>
          </a:p>
        </p:txBody>
      </p:sp>
      <p:sp>
        <p:nvSpPr>
          <p:cNvPr id="7" name="Shape 4"/>
          <p:cNvSpPr/>
          <p:nvPr/>
        </p:nvSpPr>
        <p:spPr>
          <a:xfrm>
            <a:off x="822960" y="2788920"/>
            <a:ext cx="457200" cy="457200"/>
          </a:xfrm>
          <a:prstGeom prst="ellipse">
            <a:avLst/>
          </a:prstGeom>
          <a:solidFill>
            <a:srgbClr val="E0674F"/>
          </a:solidFill>
          <a:ln w="12700">
            <a:solidFill>
              <a:srgbClr val="E0674F"/>
            </a:solidFill>
            <a:prstDash val="solid"/>
          </a:ln>
        </p:spPr>
      </p:sp>
      <p:pic>
        <p:nvPicPr>
          <p:cNvPr id="8" name="Image 1" descr="preencoded.png">    </p:cNvPr>
          <p:cNvPicPr>
            <a:picLocks noChangeAspect="1"/>
          </p:cNvPicPr>
          <p:nvPr/>
        </p:nvPicPr>
        <p:blipFill>
          <a:blip r:embed="rId2"/>
          <a:stretch>
            <a:fillRect/>
          </a:stretch>
        </p:blipFill>
        <p:spPr>
          <a:xfrm>
            <a:off x="946404" y="2912364"/>
            <a:ext cx="210312" cy="210312"/>
          </a:xfrm>
          <a:prstGeom prst="rect">
            <a:avLst/>
          </a:prstGeom>
        </p:spPr>
      </p:pic>
      <p:sp>
        <p:nvSpPr>
          <p:cNvPr id="9" name="Text 5"/>
          <p:cNvSpPr txBox="1"/>
          <p:nvPr/>
        </p:nvSpPr>
        <p:spPr>
          <a:xfrm>
            <a:off x="1463040" y="2743200"/>
            <a:ext cx="4343400" cy="292608"/>
          </a:xfrm>
          <a:prstGeom prst="rect">
            <a:avLst/>
          </a:prstGeom>
          <a:noFill/>
          <a:ln/>
        </p:spPr>
        <p:txBody>
          <a:bodyPr wrap="square" lIns="0" tIns="0" rIns="0" bIns="0" rtlCol="0" anchor="ctr"/>
          <a:lstStyle/>
          <a:p>
            <a:pPr indent="0" marL="0">
              <a:buNone/>
            </a:pPr>
            <a:r>
              <a:rPr lang="en-US" sz="1600" b="1" dirty="0">
                <a:solidFill>
                  <a:srgbClr val="1F2A37"/>
                </a:solidFill>
                <a:latin typeface="Calibri" pitchFamily="34" charset="0"/>
                <a:ea typeface="Calibri" pitchFamily="34" charset="-122"/>
                <a:cs typeface="Calibri" pitchFamily="34" charset="-120"/>
              </a:rPr>
              <a:t>Subjective diagnosis</a:t>
            </a:r>
            <a:endParaRPr lang="en-US" sz="1600" dirty="0"/>
          </a:p>
        </p:txBody>
      </p:sp>
      <p:sp>
        <p:nvSpPr>
          <p:cNvPr id="10" name="Text 6"/>
          <p:cNvSpPr txBox="1"/>
          <p:nvPr/>
        </p:nvSpPr>
        <p:spPr>
          <a:xfrm>
            <a:off x="1463040" y="3054096"/>
            <a:ext cx="4343400" cy="6400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Visual checks differ between doctors, and specialists are few in many regions.</a:t>
            </a:r>
            <a:endParaRPr lang="en-US" sz="1300" dirty="0"/>
          </a:p>
        </p:txBody>
      </p:sp>
      <p:sp>
        <p:nvSpPr>
          <p:cNvPr id="11" name="Shape 7"/>
          <p:cNvSpPr/>
          <p:nvPr/>
        </p:nvSpPr>
        <p:spPr>
          <a:xfrm>
            <a:off x="822960" y="3867912"/>
            <a:ext cx="457200" cy="457200"/>
          </a:xfrm>
          <a:prstGeom prst="ellipse">
            <a:avLst/>
          </a:prstGeom>
          <a:solidFill>
            <a:srgbClr val="E0674F"/>
          </a:solidFill>
          <a:ln w="12700">
            <a:solidFill>
              <a:srgbClr val="E0674F"/>
            </a:solidFill>
            <a:prstDash val="solid"/>
          </a:ln>
        </p:spPr>
      </p:sp>
      <p:pic>
        <p:nvPicPr>
          <p:cNvPr id="12" name="Image 2" descr="preencoded.png">    </p:cNvPr>
          <p:cNvPicPr>
            <a:picLocks noChangeAspect="1"/>
          </p:cNvPicPr>
          <p:nvPr/>
        </p:nvPicPr>
        <p:blipFill>
          <a:blip r:embed="rId3"/>
          <a:stretch>
            <a:fillRect/>
          </a:stretch>
        </p:blipFill>
        <p:spPr>
          <a:xfrm>
            <a:off x="946404" y="3991356"/>
            <a:ext cx="210312" cy="210312"/>
          </a:xfrm>
          <a:prstGeom prst="rect">
            <a:avLst/>
          </a:prstGeom>
        </p:spPr>
      </p:pic>
      <p:sp>
        <p:nvSpPr>
          <p:cNvPr id="13" name="Text 8"/>
          <p:cNvSpPr txBox="1"/>
          <p:nvPr/>
        </p:nvSpPr>
        <p:spPr>
          <a:xfrm>
            <a:off x="1463040" y="3822192"/>
            <a:ext cx="4343400" cy="292608"/>
          </a:xfrm>
          <a:prstGeom prst="rect">
            <a:avLst/>
          </a:prstGeom>
          <a:noFill/>
          <a:ln/>
        </p:spPr>
        <p:txBody>
          <a:bodyPr wrap="square" lIns="0" tIns="0" rIns="0" bIns="0" rtlCol="0" anchor="ctr"/>
          <a:lstStyle/>
          <a:p>
            <a:pPr indent="0" marL="0">
              <a:buNone/>
            </a:pPr>
            <a:r>
              <a:rPr lang="en-US" sz="1600" b="1" dirty="0">
                <a:solidFill>
                  <a:srgbClr val="1F2A37"/>
                </a:solidFill>
                <a:latin typeface="Calibri" pitchFamily="34" charset="0"/>
                <a:ea typeface="Calibri" pitchFamily="34" charset="-122"/>
                <a:cs typeface="Calibri" pitchFamily="34" charset="-120"/>
              </a:rPr>
              <a:t>Image-only models</a:t>
            </a:r>
            <a:endParaRPr lang="en-US" sz="1600" dirty="0"/>
          </a:p>
        </p:txBody>
      </p:sp>
      <p:sp>
        <p:nvSpPr>
          <p:cNvPr id="14" name="Text 9"/>
          <p:cNvSpPr txBox="1"/>
          <p:nvPr/>
        </p:nvSpPr>
        <p:spPr>
          <a:xfrm>
            <a:off x="1463040" y="4133088"/>
            <a:ext cx="4343400" cy="6400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Image-only CNNs ignore age, sex and lesion site, which affect the diagnosis.</a:t>
            </a:r>
            <a:endParaRPr lang="en-US" sz="1300" dirty="0"/>
          </a:p>
        </p:txBody>
      </p:sp>
      <p:sp>
        <p:nvSpPr>
          <p:cNvPr id="15" name="Shape 10"/>
          <p:cNvSpPr/>
          <p:nvPr/>
        </p:nvSpPr>
        <p:spPr>
          <a:xfrm>
            <a:off x="822960" y="4946904"/>
            <a:ext cx="457200" cy="457200"/>
          </a:xfrm>
          <a:prstGeom prst="ellipse">
            <a:avLst/>
          </a:prstGeom>
          <a:solidFill>
            <a:srgbClr val="E0674F"/>
          </a:solidFill>
          <a:ln w="12700">
            <a:solidFill>
              <a:srgbClr val="E0674F"/>
            </a:solidFill>
            <a:prstDash val="solid"/>
          </a:ln>
        </p:spPr>
      </p:sp>
      <p:pic>
        <p:nvPicPr>
          <p:cNvPr id="16" name="Image 3" descr="preencoded.png">    </p:cNvPr>
          <p:cNvPicPr>
            <a:picLocks noChangeAspect="1"/>
          </p:cNvPicPr>
          <p:nvPr/>
        </p:nvPicPr>
        <p:blipFill>
          <a:blip r:embed="rId4"/>
          <a:stretch>
            <a:fillRect/>
          </a:stretch>
        </p:blipFill>
        <p:spPr>
          <a:xfrm>
            <a:off x="946404" y="5070348"/>
            <a:ext cx="210312" cy="210312"/>
          </a:xfrm>
          <a:prstGeom prst="rect">
            <a:avLst/>
          </a:prstGeom>
        </p:spPr>
      </p:pic>
      <p:sp>
        <p:nvSpPr>
          <p:cNvPr id="17" name="Text 11"/>
          <p:cNvSpPr txBox="1"/>
          <p:nvPr/>
        </p:nvSpPr>
        <p:spPr>
          <a:xfrm>
            <a:off x="1463040" y="4901184"/>
            <a:ext cx="4343400" cy="292608"/>
          </a:xfrm>
          <a:prstGeom prst="rect">
            <a:avLst/>
          </a:prstGeom>
          <a:noFill/>
          <a:ln/>
        </p:spPr>
        <p:txBody>
          <a:bodyPr wrap="square" lIns="0" tIns="0" rIns="0" bIns="0" rtlCol="0" anchor="ctr"/>
          <a:lstStyle/>
          <a:p>
            <a:pPr indent="0" marL="0">
              <a:buNone/>
            </a:pPr>
            <a:r>
              <a:rPr lang="en-US" sz="1600" b="1" dirty="0">
                <a:solidFill>
                  <a:srgbClr val="1F2A37"/>
                </a:solidFill>
                <a:latin typeface="Calibri" pitchFamily="34" charset="0"/>
                <a:ea typeface="Calibri" pitchFamily="34" charset="-122"/>
                <a:cs typeface="Calibri" pitchFamily="34" charset="-120"/>
              </a:rPr>
              <a:t>Data and trust issues</a:t>
            </a:r>
            <a:endParaRPr lang="en-US" sz="1600" dirty="0"/>
          </a:p>
        </p:txBody>
      </p:sp>
      <p:sp>
        <p:nvSpPr>
          <p:cNvPr id="18" name="Text 12"/>
          <p:cNvSpPr txBox="1"/>
          <p:nvPr/>
        </p:nvSpPr>
        <p:spPr>
          <a:xfrm>
            <a:off x="1463040" y="5212080"/>
            <a:ext cx="4343400" cy="6400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Class imbalance, weak generalisation and hard-to-explain outputs limit clinical use.</a:t>
            </a:r>
            <a:endParaRPr lang="en-US" sz="1300" dirty="0"/>
          </a:p>
        </p:txBody>
      </p:sp>
      <p:sp>
        <p:nvSpPr>
          <p:cNvPr id="19" name="Shape 13"/>
          <p:cNvSpPr/>
          <p:nvPr/>
        </p:nvSpPr>
        <p:spPr>
          <a:xfrm>
            <a:off x="6172200" y="1737360"/>
            <a:ext cx="5468112" cy="4297680"/>
          </a:xfrm>
          <a:prstGeom prst="roundRect">
            <a:avLst>
              <a:gd name="adj" fmla="val 2553"/>
            </a:avLst>
          </a:prstGeom>
          <a:solidFill>
            <a:srgbClr val="F1F6F8"/>
          </a:solidFill>
          <a:ln w="12700">
            <a:solidFill>
              <a:srgbClr val="F1F6F8"/>
            </a:solidFill>
            <a:prstDash val="solid"/>
          </a:ln>
        </p:spPr>
      </p:sp>
      <p:sp>
        <p:nvSpPr>
          <p:cNvPr id="20" name="Shape 14"/>
          <p:cNvSpPr/>
          <p:nvPr/>
        </p:nvSpPr>
        <p:spPr>
          <a:xfrm>
            <a:off x="6446520" y="1920240"/>
            <a:ext cx="548640" cy="548640"/>
          </a:xfrm>
          <a:prstGeom prst="ellipse">
            <a:avLst/>
          </a:prstGeom>
          <a:solidFill>
            <a:srgbClr val="1B8A93"/>
          </a:solidFill>
          <a:ln w="12700">
            <a:solidFill>
              <a:srgbClr val="1B8A93"/>
            </a:solidFill>
            <a:prstDash val="solid"/>
          </a:ln>
        </p:spPr>
      </p:sp>
      <p:pic>
        <p:nvPicPr>
          <p:cNvPr id="21" name="Image 4" descr="preencoded.png">    </p:cNvPr>
          <p:cNvPicPr>
            <a:picLocks noChangeAspect="1"/>
          </p:cNvPicPr>
          <p:nvPr/>
        </p:nvPicPr>
        <p:blipFill>
          <a:blip r:embed="rId5"/>
          <a:stretch>
            <a:fillRect/>
          </a:stretch>
        </p:blipFill>
        <p:spPr>
          <a:xfrm>
            <a:off x="6594653" y="2068373"/>
            <a:ext cx="252374" cy="252374"/>
          </a:xfrm>
          <a:prstGeom prst="rect">
            <a:avLst/>
          </a:prstGeom>
        </p:spPr>
      </p:pic>
      <p:sp>
        <p:nvSpPr>
          <p:cNvPr id="22" name="Text 15"/>
          <p:cNvSpPr txBox="1"/>
          <p:nvPr/>
        </p:nvSpPr>
        <p:spPr>
          <a:xfrm>
            <a:off x="7178040" y="1920240"/>
            <a:ext cx="4114800" cy="548640"/>
          </a:xfrm>
          <a:prstGeom prst="rect">
            <a:avLst/>
          </a:prstGeom>
          <a:noFill/>
          <a:ln/>
        </p:spPr>
        <p:txBody>
          <a:bodyPr wrap="square" lIns="0" tIns="0" rIns="0" bIns="0" rtlCol="0" anchor="ctr"/>
          <a:lstStyle/>
          <a:p>
            <a:pPr indent="0" marL="0">
              <a:buNone/>
            </a:pPr>
            <a:r>
              <a:rPr lang="en-US" sz="2200" b="1" dirty="0">
                <a:solidFill>
                  <a:srgbClr val="10273A"/>
                </a:solidFill>
                <a:latin typeface="Cambria" pitchFamily="34" charset="0"/>
                <a:ea typeface="Cambria" pitchFamily="34" charset="-122"/>
                <a:cs typeface="Cambria" pitchFamily="34" charset="-120"/>
              </a:rPr>
              <a:t>Motivation</a:t>
            </a:r>
            <a:endParaRPr lang="en-US" sz="2200" dirty="0"/>
          </a:p>
        </p:txBody>
      </p:sp>
      <p:sp>
        <p:nvSpPr>
          <p:cNvPr id="23" name="Shape 16"/>
          <p:cNvSpPr/>
          <p:nvPr/>
        </p:nvSpPr>
        <p:spPr>
          <a:xfrm>
            <a:off x="6446520" y="2788920"/>
            <a:ext cx="457200" cy="457200"/>
          </a:xfrm>
          <a:prstGeom prst="ellipse">
            <a:avLst/>
          </a:prstGeom>
          <a:solidFill>
            <a:srgbClr val="1B8A93"/>
          </a:solidFill>
          <a:ln w="12700">
            <a:solidFill>
              <a:srgbClr val="1B8A93"/>
            </a:solidFill>
            <a:prstDash val="solid"/>
          </a:ln>
        </p:spPr>
      </p:sp>
      <p:pic>
        <p:nvPicPr>
          <p:cNvPr id="24" name="Image 5" descr="preencoded.png">    </p:cNvPr>
          <p:cNvPicPr>
            <a:picLocks noChangeAspect="1"/>
          </p:cNvPicPr>
          <p:nvPr/>
        </p:nvPicPr>
        <p:blipFill>
          <a:blip r:embed="rId6"/>
          <a:stretch>
            <a:fillRect/>
          </a:stretch>
        </p:blipFill>
        <p:spPr>
          <a:xfrm>
            <a:off x="6569964" y="2912364"/>
            <a:ext cx="210312" cy="210312"/>
          </a:xfrm>
          <a:prstGeom prst="rect">
            <a:avLst/>
          </a:prstGeom>
        </p:spPr>
      </p:pic>
      <p:sp>
        <p:nvSpPr>
          <p:cNvPr id="25" name="Text 17"/>
          <p:cNvSpPr txBox="1"/>
          <p:nvPr/>
        </p:nvSpPr>
        <p:spPr>
          <a:xfrm>
            <a:off x="7086600" y="2743200"/>
            <a:ext cx="4343400" cy="292608"/>
          </a:xfrm>
          <a:prstGeom prst="rect">
            <a:avLst/>
          </a:prstGeom>
          <a:noFill/>
          <a:ln/>
        </p:spPr>
        <p:txBody>
          <a:bodyPr wrap="square" lIns="0" tIns="0" rIns="0" bIns="0" rtlCol="0" anchor="ctr"/>
          <a:lstStyle/>
          <a:p>
            <a:pPr indent="0" marL="0">
              <a:buNone/>
            </a:pPr>
            <a:r>
              <a:rPr lang="en-US" sz="1600" b="1" dirty="0">
                <a:solidFill>
                  <a:srgbClr val="1F2A37"/>
                </a:solidFill>
                <a:latin typeface="Calibri" pitchFamily="34" charset="0"/>
                <a:ea typeface="Calibri" pitchFamily="34" charset="-122"/>
                <a:cs typeface="Calibri" pitchFamily="34" charset="-120"/>
              </a:rPr>
              <a:t>Use images and patient data</a:t>
            </a:r>
            <a:endParaRPr lang="en-US" sz="1600" dirty="0"/>
          </a:p>
        </p:txBody>
      </p:sp>
      <p:sp>
        <p:nvSpPr>
          <p:cNvPr id="26" name="Text 18"/>
          <p:cNvSpPr txBox="1"/>
          <p:nvPr/>
        </p:nvSpPr>
        <p:spPr>
          <a:xfrm>
            <a:off x="7086600" y="3054096"/>
            <a:ext cx="4343400" cy="6400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Combine the skin image with patient data, as doctors do in practice.</a:t>
            </a:r>
            <a:endParaRPr lang="en-US" sz="1300" dirty="0"/>
          </a:p>
        </p:txBody>
      </p:sp>
      <p:sp>
        <p:nvSpPr>
          <p:cNvPr id="27" name="Shape 19"/>
          <p:cNvSpPr/>
          <p:nvPr/>
        </p:nvSpPr>
        <p:spPr>
          <a:xfrm>
            <a:off x="6446520" y="3867912"/>
            <a:ext cx="457200" cy="457200"/>
          </a:xfrm>
          <a:prstGeom prst="ellipse">
            <a:avLst/>
          </a:prstGeom>
          <a:solidFill>
            <a:srgbClr val="1B8A93"/>
          </a:solidFill>
          <a:ln w="12700">
            <a:solidFill>
              <a:srgbClr val="1B8A93"/>
            </a:solidFill>
            <a:prstDash val="solid"/>
          </a:ln>
        </p:spPr>
      </p:sp>
      <p:pic>
        <p:nvPicPr>
          <p:cNvPr id="28" name="Image 6" descr="preencoded.png">    </p:cNvPr>
          <p:cNvPicPr>
            <a:picLocks noChangeAspect="1"/>
          </p:cNvPicPr>
          <p:nvPr/>
        </p:nvPicPr>
        <p:blipFill>
          <a:blip r:embed="rId7"/>
          <a:stretch>
            <a:fillRect/>
          </a:stretch>
        </p:blipFill>
        <p:spPr>
          <a:xfrm>
            <a:off x="6569964" y="3991356"/>
            <a:ext cx="210312" cy="210312"/>
          </a:xfrm>
          <a:prstGeom prst="rect">
            <a:avLst/>
          </a:prstGeom>
        </p:spPr>
      </p:pic>
      <p:sp>
        <p:nvSpPr>
          <p:cNvPr id="29" name="Text 20"/>
          <p:cNvSpPr txBox="1"/>
          <p:nvPr/>
        </p:nvSpPr>
        <p:spPr>
          <a:xfrm>
            <a:off x="7086600" y="3822192"/>
            <a:ext cx="4343400" cy="292608"/>
          </a:xfrm>
          <a:prstGeom prst="rect">
            <a:avLst/>
          </a:prstGeom>
          <a:noFill/>
          <a:ln/>
        </p:spPr>
        <p:txBody>
          <a:bodyPr wrap="square" lIns="0" tIns="0" rIns="0" bIns="0" rtlCol="0" anchor="ctr"/>
          <a:lstStyle/>
          <a:p>
            <a:pPr indent="0" marL="0">
              <a:buNone/>
            </a:pPr>
            <a:r>
              <a:rPr lang="en-US" sz="1600" b="1" dirty="0">
                <a:solidFill>
                  <a:srgbClr val="1F2A37"/>
                </a:solidFill>
                <a:latin typeface="Calibri" pitchFamily="34" charset="0"/>
                <a:ea typeface="Calibri" pitchFamily="34" charset="-122"/>
                <a:cs typeface="Calibri" pitchFamily="34" charset="-120"/>
              </a:rPr>
              <a:t>Early detection</a:t>
            </a:r>
            <a:endParaRPr lang="en-US" sz="1600" dirty="0"/>
          </a:p>
        </p:txBody>
      </p:sp>
      <p:sp>
        <p:nvSpPr>
          <p:cNvPr id="30" name="Text 21"/>
          <p:cNvSpPr txBox="1"/>
          <p:nvPr/>
        </p:nvSpPr>
        <p:spPr>
          <a:xfrm>
            <a:off x="7086600" y="4133088"/>
            <a:ext cx="4343400" cy="6400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Reliable automatic screening supports earlier referral and better outcomes.</a:t>
            </a:r>
            <a:endParaRPr lang="en-US" sz="1300" dirty="0"/>
          </a:p>
        </p:txBody>
      </p:sp>
      <p:sp>
        <p:nvSpPr>
          <p:cNvPr id="31" name="Shape 22"/>
          <p:cNvSpPr/>
          <p:nvPr/>
        </p:nvSpPr>
        <p:spPr>
          <a:xfrm>
            <a:off x="6446520" y="4946904"/>
            <a:ext cx="457200" cy="457200"/>
          </a:xfrm>
          <a:prstGeom prst="ellipse">
            <a:avLst/>
          </a:prstGeom>
          <a:solidFill>
            <a:srgbClr val="1B8A93"/>
          </a:solidFill>
          <a:ln w="12700">
            <a:solidFill>
              <a:srgbClr val="1B8A93"/>
            </a:solidFill>
            <a:prstDash val="solid"/>
          </a:ln>
        </p:spPr>
      </p:sp>
      <p:pic>
        <p:nvPicPr>
          <p:cNvPr id="32" name="Image 7" descr="preencoded.png">    </p:cNvPr>
          <p:cNvPicPr>
            <a:picLocks noChangeAspect="1"/>
          </p:cNvPicPr>
          <p:nvPr/>
        </p:nvPicPr>
        <p:blipFill>
          <a:blip r:embed="rId8"/>
          <a:stretch>
            <a:fillRect/>
          </a:stretch>
        </p:blipFill>
        <p:spPr>
          <a:xfrm>
            <a:off x="6569964" y="5070348"/>
            <a:ext cx="210312" cy="210312"/>
          </a:xfrm>
          <a:prstGeom prst="rect">
            <a:avLst/>
          </a:prstGeom>
        </p:spPr>
      </p:pic>
      <p:sp>
        <p:nvSpPr>
          <p:cNvPr id="33" name="Text 23"/>
          <p:cNvSpPr txBox="1"/>
          <p:nvPr/>
        </p:nvSpPr>
        <p:spPr>
          <a:xfrm>
            <a:off x="7086600" y="4901184"/>
            <a:ext cx="4343400" cy="292608"/>
          </a:xfrm>
          <a:prstGeom prst="rect">
            <a:avLst/>
          </a:prstGeom>
          <a:noFill/>
          <a:ln/>
        </p:spPr>
        <p:txBody>
          <a:bodyPr wrap="square" lIns="0" tIns="0" rIns="0" bIns="0" rtlCol="0" anchor="ctr"/>
          <a:lstStyle/>
          <a:p>
            <a:pPr indent="0" marL="0">
              <a:buNone/>
            </a:pPr>
            <a:r>
              <a:rPr lang="en-US" sz="1600" b="1" dirty="0">
                <a:solidFill>
                  <a:srgbClr val="1F2A37"/>
                </a:solidFill>
                <a:latin typeface="Calibri" pitchFamily="34" charset="0"/>
                <a:ea typeface="Calibri" pitchFamily="34" charset="-122"/>
                <a:cs typeface="Calibri" pitchFamily="34" charset="-120"/>
              </a:rPr>
              <a:t>Lightweight and explainable</a:t>
            </a:r>
            <a:endParaRPr lang="en-US" sz="1600" dirty="0"/>
          </a:p>
        </p:txBody>
      </p:sp>
      <p:sp>
        <p:nvSpPr>
          <p:cNvPr id="34" name="Text 24"/>
          <p:cNvSpPr txBox="1"/>
          <p:nvPr/>
        </p:nvSpPr>
        <p:spPr>
          <a:xfrm>
            <a:off x="7086600" y="5212080"/>
            <a:ext cx="4343400" cy="6400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 small attention block (1,029 parameters) and heatmaps make the model easy to run and explain.</a:t>
            </a:r>
            <a:endParaRPr lang="en-US" sz="1300" dirty="0"/>
          </a:p>
        </p:txBody>
      </p:sp>
      <p:sp>
        <p:nvSpPr>
          <p:cNvPr id="35"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36" name="Text 26"/>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Design &amp; Methodology: Dataset</a:t>
            </a:r>
            <a:endParaRPr lang="en-US" sz="34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HAM10000: 10,015 skin lesion images in 7 classes, with age, sex and body site</a:t>
            </a:r>
            <a:endParaRPr lang="en-US" sz="1600" dirty="0"/>
          </a:p>
        </p:txBody>
      </p:sp>
      <p:graphicFrame>
        <p:nvGraphicFramePr>
          <p:cNvPr id="4" name="Chart 0" descr=""/>
          <p:cNvGraphicFramePr/>
          <p:nvPr/>
        </p:nvGraphicFramePr>
        <p:xfrm>
          <a:off x="548640" y="1600200"/>
          <a:ext cx="521208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600200"/>
            <a:ext cx="5605272" cy="658368"/>
          </a:xfrm>
          <a:prstGeom prst="roundRect">
            <a:avLst>
              <a:gd name="adj" fmla="val 16667"/>
            </a:avLst>
          </a:prstGeom>
          <a:solidFill>
            <a:srgbClr val="F1F6F8"/>
          </a:solidFill>
          <a:ln w="12700">
            <a:solidFill>
              <a:srgbClr val="F1F6F8"/>
            </a:solidFill>
            <a:prstDash val="solid"/>
          </a:ln>
        </p:spPr>
      </p:sp>
      <p:sp>
        <p:nvSpPr>
          <p:cNvPr id="6" name="Shape 3"/>
          <p:cNvSpPr/>
          <p:nvPr/>
        </p:nvSpPr>
        <p:spPr>
          <a:xfrm>
            <a:off x="6172200" y="1737360"/>
            <a:ext cx="384048" cy="384048"/>
          </a:xfrm>
          <a:prstGeom prst="ellipse">
            <a:avLst/>
          </a:prstGeom>
          <a:solidFill>
            <a:srgbClr val="1B8A93"/>
          </a:solidFill>
          <a:ln w="12700">
            <a:solidFill>
              <a:srgbClr val="1B8A93"/>
            </a:solidFill>
            <a:prstDash val="solid"/>
          </a:ln>
        </p:spPr>
      </p:sp>
      <p:sp>
        <p:nvSpPr>
          <p:cNvPr id="7" name="Text 4"/>
          <p:cNvSpPr txBox="1"/>
          <p:nvPr/>
        </p:nvSpPr>
        <p:spPr>
          <a:xfrm>
            <a:off x="6172200" y="1737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5"/>
          <p:cNvSpPr txBox="1"/>
          <p:nvPr/>
        </p:nvSpPr>
        <p:spPr>
          <a:xfrm>
            <a:off x="6720840" y="1600200"/>
            <a:ext cx="4828032" cy="658368"/>
          </a:xfrm>
          <a:prstGeom prst="rect">
            <a:avLst/>
          </a:prstGeom>
          <a:noFill/>
          <a:ln/>
        </p:spPr>
        <p:txBody>
          <a:bodyPr wrap="square" lIns="0" tIns="0" rIns="0" bIns="0" rtlCol="0" anchor="ctr"/>
          <a:lstStyle/>
          <a:p>
            <a:pPr indent="0" marL="0">
              <a:buNone/>
            </a:pPr>
            <a:r>
              <a:rPr lang="en-US" sz="1400" b="1" dirty="0">
                <a:solidFill>
                  <a:srgbClr val="1F2A37"/>
                </a:solidFill>
                <a:latin typeface="Calibri" pitchFamily="34" charset="0"/>
                <a:ea typeface="Calibri" pitchFamily="34" charset="-122"/>
                <a:cs typeface="Calibri" pitchFamily="34" charset="-120"/>
              </a:rPr>
              <a:t>Lesion-level partitioning</a:t>
            </a:r>
            <a:endParaRPr lang="en-US" sz="1400" dirty="0"/>
          </a:p>
          <a:p>
            <a:pPr indent="0" marL="0">
              <a:buNone/>
            </a:pPr>
            <a:r>
              <a:rPr lang="en-US" sz="1200" dirty="0">
                <a:solidFill>
                  <a:srgbClr val="5B6B7A"/>
                </a:solidFill>
                <a:latin typeface="Calibri" pitchFamily="34" charset="0"/>
                <a:ea typeface="Calibri" pitchFamily="34" charset="-122"/>
                <a:cs typeface="Calibri" pitchFamily="34" charset="-120"/>
              </a:rPr>
              <a:t>70 / 15 / 15, stratified: 7,002 train | 1,532 validation | 1,481 test</a:t>
            </a:r>
            <a:endParaRPr lang="en-US" sz="1400" dirty="0"/>
          </a:p>
        </p:txBody>
      </p:sp>
      <p:sp>
        <p:nvSpPr>
          <p:cNvPr id="9" name="Shape 6"/>
          <p:cNvSpPr/>
          <p:nvPr/>
        </p:nvSpPr>
        <p:spPr>
          <a:xfrm>
            <a:off x="6035040" y="2331720"/>
            <a:ext cx="5605272" cy="658368"/>
          </a:xfrm>
          <a:prstGeom prst="roundRect">
            <a:avLst>
              <a:gd name="adj" fmla="val 16667"/>
            </a:avLst>
          </a:prstGeom>
          <a:solidFill>
            <a:srgbClr val="F1F6F8"/>
          </a:solidFill>
          <a:ln w="12700">
            <a:solidFill>
              <a:srgbClr val="F1F6F8"/>
            </a:solidFill>
            <a:prstDash val="solid"/>
          </a:ln>
        </p:spPr>
      </p:sp>
      <p:sp>
        <p:nvSpPr>
          <p:cNvPr id="10" name="Shape 7"/>
          <p:cNvSpPr/>
          <p:nvPr/>
        </p:nvSpPr>
        <p:spPr>
          <a:xfrm>
            <a:off x="6172200" y="2468880"/>
            <a:ext cx="384048" cy="384048"/>
          </a:xfrm>
          <a:prstGeom prst="ellipse">
            <a:avLst/>
          </a:prstGeom>
          <a:solidFill>
            <a:srgbClr val="1B8A93"/>
          </a:solidFill>
          <a:ln w="12700">
            <a:solidFill>
              <a:srgbClr val="1B8A93"/>
            </a:solidFill>
            <a:prstDash val="solid"/>
          </a:ln>
        </p:spPr>
      </p:sp>
      <p:sp>
        <p:nvSpPr>
          <p:cNvPr id="11" name="Text 8"/>
          <p:cNvSpPr txBox="1"/>
          <p:nvPr/>
        </p:nvSpPr>
        <p:spPr>
          <a:xfrm>
            <a:off x="6172200" y="2468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9"/>
          <p:cNvSpPr txBox="1"/>
          <p:nvPr/>
        </p:nvSpPr>
        <p:spPr>
          <a:xfrm>
            <a:off x="6720840" y="2331720"/>
            <a:ext cx="4828032" cy="658368"/>
          </a:xfrm>
          <a:prstGeom prst="rect">
            <a:avLst/>
          </a:prstGeom>
          <a:noFill/>
          <a:ln/>
        </p:spPr>
        <p:txBody>
          <a:bodyPr wrap="square" lIns="0" tIns="0" rIns="0" bIns="0" rtlCol="0" anchor="ctr"/>
          <a:lstStyle/>
          <a:p>
            <a:pPr indent="0" marL="0">
              <a:buNone/>
            </a:pPr>
            <a:r>
              <a:rPr lang="en-US" sz="1400" b="1" dirty="0">
                <a:solidFill>
                  <a:srgbClr val="1F2A37"/>
                </a:solidFill>
                <a:latin typeface="Calibri" pitchFamily="34" charset="0"/>
                <a:ea typeface="Calibri" pitchFamily="34" charset="-122"/>
                <a:cs typeface="Calibri" pitchFamily="34" charset="-120"/>
              </a:rPr>
              <a:t>Metadata pre-processing</a:t>
            </a:r>
            <a:endParaRPr lang="en-US" sz="1400" dirty="0"/>
          </a:p>
          <a:p>
            <a:pPr indent="0" marL="0">
              <a:buNone/>
            </a:pPr>
            <a:r>
              <a:rPr lang="en-US" sz="1200" dirty="0">
                <a:solidFill>
                  <a:srgbClr val="5B6B7A"/>
                </a:solidFill>
                <a:latin typeface="Calibri" pitchFamily="34" charset="0"/>
                <a:ea typeface="Calibri" pitchFamily="34" charset="-122"/>
                <a:cs typeface="Calibri" pitchFamily="34" charset="-120"/>
              </a:rPr>
              <a:t>Sex and site one-hot encoded, age scaled (training data); dx type removed</a:t>
            </a:r>
            <a:endParaRPr lang="en-US" sz="1400" dirty="0"/>
          </a:p>
        </p:txBody>
      </p:sp>
      <p:sp>
        <p:nvSpPr>
          <p:cNvPr id="13" name="Shape 10"/>
          <p:cNvSpPr/>
          <p:nvPr/>
        </p:nvSpPr>
        <p:spPr>
          <a:xfrm>
            <a:off x="6035040" y="3063240"/>
            <a:ext cx="5605272" cy="658368"/>
          </a:xfrm>
          <a:prstGeom prst="roundRect">
            <a:avLst>
              <a:gd name="adj" fmla="val 16667"/>
            </a:avLst>
          </a:prstGeom>
          <a:solidFill>
            <a:srgbClr val="F1F6F8"/>
          </a:solidFill>
          <a:ln w="12700">
            <a:solidFill>
              <a:srgbClr val="F1F6F8"/>
            </a:solidFill>
            <a:prstDash val="solid"/>
          </a:ln>
        </p:spPr>
      </p:sp>
      <p:sp>
        <p:nvSpPr>
          <p:cNvPr id="14" name="Shape 11"/>
          <p:cNvSpPr/>
          <p:nvPr/>
        </p:nvSpPr>
        <p:spPr>
          <a:xfrm>
            <a:off x="6172200" y="3200400"/>
            <a:ext cx="384048" cy="384048"/>
          </a:xfrm>
          <a:prstGeom prst="ellipse">
            <a:avLst/>
          </a:prstGeom>
          <a:solidFill>
            <a:srgbClr val="1B8A93"/>
          </a:solidFill>
          <a:ln w="12700">
            <a:solidFill>
              <a:srgbClr val="1B8A93"/>
            </a:solidFill>
            <a:prstDash val="solid"/>
          </a:ln>
        </p:spPr>
      </p:sp>
      <p:sp>
        <p:nvSpPr>
          <p:cNvPr id="15" name="Text 12"/>
          <p:cNvSpPr txBox="1"/>
          <p:nvPr/>
        </p:nvSpPr>
        <p:spPr>
          <a:xfrm>
            <a:off x="617220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6720840" y="3063240"/>
            <a:ext cx="4828032" cy="658368"/>
          </a:xfrm>
          <a:prstGeom prst="rect">
            <a:avLst/>
          </a:prstGeom>
          <a:noFill/>
          <a:ln/>
        </p:spPr>
        <p:txBody>
          <a:bodyPr wrap="square" lIns="0" tIns="0" rIns="0" bIns="0" rtlCol="0" anchor="ctr"/>
          <a:lstStyle/>
          <a:p>
            <a:pPr indent="0" marL="0">
              <a:buNone/>
            </a:pPr>
            <a:r>
              <a:rPr lang="en-US" sz="1400" b="1" dirty="0">
                <a:solidFill>
                  <a:srgbClr val="1F2A37"/>
                </a:solidFill>
                <a:latin typeface="Calibri" pitchFamily="34" charset="0"/>
                <a:ea typeface="Calibri" pitchFamily="34" charset="-122"/>
                <a:cs typeface="Calibri" pitchFamily="34" charset="-120"/>
              </a:rPr>
              <a:t>Class-balanced sampling</a:t>
            </a:r>
            <a:endParaRPr lang="en-US" sz="1400" dirty="0"/>
          </a:p>
          <a:p>
            <a:pPr indent="0" marL="0">
              <a:buNone/>
            </a:pPr>
            <a:r>
              <a:rPr lang="en-US" sz="1200" dirty="0">
                <a:solidFill>
                  <a:srgbClr val="5B6B7A"/>
                </a:solidFill>
                <a:latin typeface="Calibri" pitchFamily="34" charset="0"/>
                <a:ea typeface="Calibri" pitchFamily="34" charset="-122"/>
                <a:cs typeface="Calibri" pitchFamily="34" charset="-120"/>
              </a:rPr>
              <a:t>Training only: 2,000 images per class in each epoch (14,000)</a:t>
            </a:r>
            <a:endParaRPr lang="en-US" sz="1400" dirty="0"/>
          </a:p>
        </p:txBody>
      </p:sp>
      <p:sp>
        <p:nvSpPr>
          <p:cNvPr id="17" name="Shape 14"/>
          <p:cNvSpPr/>
          <p:nvPr/>
        </p:nvSpPr>
        <p:spPr>
          <a:xfrm>
            <a:off x="6035040" y="3794760"/>
            <a:ext cx="5605272" cy="658368"/>
          </a:xfrm>
          <a:prstGeom prst="roundRect">
            <a:avLst>
              <a:gd name="adj" fmla="val 16667"/>
            </a:avLst>
          </a:prstGeom>
          <a:solidFill>
            <a:srgbClr val="F1F6F8"/>
          </a:solidFill>
          <a:ln w="12700">
            <a:solidFill>
              <a:srgbClr val="F1F6F8"/>
            </a:solidFill>
            <a:prstDash val="solid"/>
          </a:ln>
        </p:spPr>
      </p:sp>
      <p:sp>
        <p:nvSpPr>
          <p:cNvPr id="18" name="Shape 15"/>
          <p:cNvSpPr/>
          <p:nvPr/>
        </p:nvSpPr>
        <p:spPr>
          <a:xfrm>
            <a:off x="6172200" y="3931920"/>
            <a:ext cx="384048" cy="384048"/>
          </a:xfrm>
          <a:prstGeom prst="ellipse">
            <a:avLst/>
          </a:prstGeom>
          <a:solidFill>
            <a:srgbClr val="1B8A93"/>
          </a:solidFill>
          <a:ln w="12700">
            <a:solidFill>
              <a:srgbClr val="1B8A93"/>
            </a:solidFill>
            <a:prstDash val="solid"/>
          </a:ln>
        </p:spPr>
      </p:sp>
      <p:sp>
        <p:nvSpPr>
          <p:cNvPr id="19" name="Text 16"/>
          <p:cNvSpPr txBox="1"/>
          <p:nvPr/>
        </p:nvSpPr>
        <p:spPr>
          <a:xfrm>
            <a:off x="617220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6720840" y="3794760"/>
            <a:ext cx="4828032" cy="658368"/>
          </a:xfrm>
          <a:prstGeom prst="rect">
            <a:avLst/>
          </a:prstGeom>
          <a:noFill/>
          <a:ln/>
        </p:spPr>
        <p:txBody>
          <a:bodyPr wrap="square" lIns="0" tIns="0" rIns="0" bIns="0" rtlCol="0" anchor="ctr"/>
          <a:lstStyle/>
          <a:p>
            <a:pPr indent="0" marL="0">
              <a:buNone/>
            </a:pPr>
            <a:r>
              <a:rPr lang="en-US" sz="1400" b="1" dirty="0">
                <a:solidFill>
                  <a:srgbClr val="1F2A37"/>
                </a:solidFill>
                <a:latin typeface="Calibri" pitchFamily="34" charset="0"/>
                <a:ea typeface="Calibri" pitchFamily="34" charset="-122"/>
                <a:cs typeface="Calibri" pitchFamily="34" charset="-120"/>
              </a:rPr>
              <a:t>Image pre-processing</a:t>
            </a:r>
            <a:endParaRPr lang="en-US" sz="1400" dirty="0"/>
          </a:p>
          <a:p>
            <a:pPr indent="0" marL="0">
              <a:buNone/>
            </a:pPr>
            <a:r>
              <a:rPr lang="en-US" sz="1200" dirty="0">
                <a:solidFill>
                  <a:srgbClr val="5B6B7A"/>
                </a:solidFill>
                <a:latin typeface="Calibri" pitchFamily="34" charset="0"/>
                <a:ea typeface="Calibri" pitchFamily="34" charset="-122"/>
                <a:cs typeface="Calibri" pitchFamily="34" charset="-120"/>
              </a:rPr>
              <a:t>224 x 224, ImageNet normalisation; flip, rotation, zoom, colour jitter</a:t>
            </a:r>
            <a:endParaRPr lang="en-US" sz="1400" dirty="0"/>
          </a:p>
        </p:txBody>
      </p:sp>
      <p:sp>
        <p:nvSpPr>
          <p:cNvPr id="21" name="Shape 18"/>
          <p:cNvSpPr/>
          <p:nvPr/>
        </p:nvSpPr>
        <p:spPr>
          <a:xfrm>
            <a:off x="6035040" y="4526280"/>
            <a:ext cx="5605272" cy="658368"/>
          </a:xfrm>
          <a:prstGeom prst="roundRect">
            <a:avLst>
              <a:gd name="adj" fmla="val 16667"/>
            </a:avLst>
          </a:prstGeom>
          <a:solidFill>
            <a:srgbClr val="F1F6F8"/>
          </a:solidFill>
          <a:ln w="12700">
            <a:solidFill>
              <a:srgbClr val="F1F6F8"/>
            </a:solidFill>
            <a:prstDash val="solid"/>
          </a:ln>
        </p:spPr>
      </p:sp>
      <p:sp>
        <p:nvSpPr>
          <p:cNvPr id="22" name="Shape 19"/>
          <p:cNvSpPr/>
          <p:nvPr/>
        </p:nvSpPr>
        <p:spPr>
          <a:xfrm>
            <a:off x="6172200" y="4663440"/>
            <a:ext cx="384048" cy="384048"/>
          </a:xfrm>
          <a:prstGeom prst="ellipse">
            <a:avLst/>
          </a:prstGeom>
          <a:solidFill>
            <a:srgbClr val="1B8A93"/>
          </a:solidFill>
          <a:ln w="12700">
            <a:solidFill>
              <a:srgbClr val="1B8A93"/>
            </a:solidFill>
            <a:prstDash val="solid"/>
          </a:ln>
        </p:spPr>
      </p:sp>
      <p:sp>
        <p:nvSpPr>
          <p:cNvPr id="23" name="Text 20"/>
          <p:cNvSpPr txBox="1"/>
          <p:nvPr/>
        </p:nvSpPr>
        <p:spPr>
          <a:xfrm>
            <a:off x="6172200" y="4663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4" name="Text 21"/>
          <p:cNvSpPr txBox="1"/>
          <p:nvPr/>
        </p:nvSpPr>
        <p:spPr>
          <a:xfrm>
            <a:off x="6720840" y="4526280"/>
            <a:ext cx="4828032" cy="658368"/>
          </a:xfrm>
          <a:prstGeom prst="rect">
            <a:avLst/>
          </a:prstGeom>
          <a:noFill/>
          <a:ln/>
        </p:spPr>
        <p:txBody>
          <a:bodyPr wrap="square" lIns="0" tIns="0" rIns="0" bIns="0" rtlCol="0" anchor="ctr"/>
          <a:lstStyle/>
          <a:p>
            <a:pPr indent="0" marL="0">
              <a:buNone/>
            </a:pPr>
            <a:r>
              <a:rPr lang="en-US" sz="1400" b="1" dirty="0">
                <a:solidFill>
                  <a:srgbClr val="1F2A37"/>
                </a:solidFill>
                <a:latin typeface="Calibri" pitchFamily="34" charset="0"/>
                <a:ea typeface="Calibri" pitchFamily="34" charset="-122"/>
                <a:cs typeface="Calibri" pitchFamily="34" charset="-120"/>
              </a:rPr>
              <a:t>Modality alignment</a:t>
            </a:r>
            <a:endParaRPr lang="en-US" sz="1400" dirty="0"/>
          </a:p>
          <a:p>
            <a:pPr indent="0" marL="0">
              <a:buNone/>
            </a:pPr>
            <a:r>
              <a:rPr lang="en-US" sz="1200" dirty="0">
                <a:solidFill>
                  <a:srgbClr val="5B6B7A"/>
                </a:solidFill>
                <a:latin typeface="Calibri" pitchFamily="34" charset="0"/>
                <a:ea typeface="Calibri" pitchFamily="34" charset="-122"/>
                <a:cs typeface="Calibri" pitchFamily="34" charset="-120"/>
              </a:rPr>
              <a:t>Image and metadata records joined on image_id</a:t>
            </a:r>
            <a:endParaRPr lang="en-US" sz="1400" dirty="0"/>
          </a:p>
        </p:txBody>
      </p:sp>
      <p:sp>
        <p:nvSpPr>
          <p:cNvPr id="25" name="Shape 22"/>
          <p:cNvSpPr/>
          <p:nvPr/>
        </p:nvSpPr>
        <p:spPr>
          <a:xfrm>
            <a:off x="548640" y="5440680"/>
            <a:ext cx="11091672" cy="777240"/>
          </a:xfrm>
          <a:prstGeom prst="roundRect">
            <a:avLst>
              <a:gd name="adj" fmla="val 14118"/>
            </a:avLst>
          </a:prstGeom>
          <a:solidFill>
            <a:srgbClr val="DCEEF0"/>
          </a:solidFill>
          <a:ln w="12700">
            <a:solidFill>
              <a:srgbClr val="DCEEF0"/>
            </a:solidFill>
            <a:prstDash val="solid"/>
          </a:ln>
        </p:spPr>
      </p:sp>
      <p:sp>
        <p:nvSpPr>
          <p:cNvPr id="26" name="Text 23"/>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400" b="1" dirty="0">
                <a:solidFill>
                  <a:srgbClr val="1B8A93"/>
                </a:solidFill>
                <a:latin typeface="Calibri" pitchFamily="34" charset="0"/>
                <a:ea typeface="Calibri" pitchFamily="34" charset="-122"/>
                <a:cs typeface="Calibri" pitchFamily="34" charset="-120"/>
              </a:rPr>
              <a:t>Note: </a:t>
            </a:r>
            <a:pPr indent="0" marL="0">
              <a:buNone/>
            </a:pPr>
            <a:r>
              <a:rPr lang="en-US" sz="1400" dirty="0">
                <a:solidFill>
                  <a:srgbClr val="1F2A37"/>
                </a:solidFill>
                <a:latin typeface="Calibri" pitchFamily="34" charset="0"/>
                <a:ea typeface="Calibri" pitchFamily="34" charset="-122"/>
                <a:cs typeface="Calibri" pitchFamily="34" charset="-120"/>
              </a:rPr>
              <a:t>splitting by lesion keeps images of one lesion out of both training and test, and the validation and test sets keep the real class balance. The reference study's test set seems to contain repeated images (435 DF test samples vs 115 DF images in the dataset).</a:t>
            </a:r>
            <a:endParaRPr lang="en-US" sz="1400" dirty="0"/>
          </a:p>
        </p:txBody>
      </p:sp>
      <p:sp>
        <p:nvSpPr>
          <p:cNvPr id="27"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28" name="Text 25"/>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Design &amp; Methodology: Proposed Architecture</a:t>
            </a:r>
            <a:endParaRPr lang="en-US" sz="34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Two branches: an image branch with the proposed attention block, and a clinical data branch</a:t>
            </a:r>
            <a:endParaRPr lang="en-US" sz="1600" dirty="0"/>
          </a:p>
        </p:txBody>
      </p:sp>
      <p:sp>
        <p:nvSpPr>
          <p:cNvPr id="28"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29" name="Text 26"/>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sp>
        <p:nvSpPr>
          <p:cNvPr id="30" name="Pipe img 1"/>
          <p:cNvSpPr/>
          <p:nvPr/>
        </p:nvSpPr>
        <p:spPr>
          <a:xfrm>
            <a:off x="548640" y="1897380"/>
            <a:ext cx="1234440" cy="777240"/>
          </a:xfrm>
          <a:prstGeom prst="roundRect">
            <a:avLst>
              <a:gd name="adj" fmla="val 12000"/>
            </a:avLst>
          </a:prstGeom>
          <a:solidFill>
            <a:srgbClr val="F1F6F8"/>
          </a:solidFill>
          <a:ln w="12700">
            <a:solidFill>
              <a:srgbClr val="C9D6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1F2A37"/>
                </a:solidFill>
                <a:latin typeface="Calibri"/>
              </a:rPr>
              <a:t>Dermoscopic</a:t>
            </a:r>
          </a:p>
          <a:p>
            <a:pPr algn="ctr"/>
            <a:r>
              <a:rPr sz="1000" b="0">
                <a:solidFill>
                  <a:srgbClr val="1F2A37"/>
                </a:solidFill>
                <a:latin typeface="Calibri"/>
              </a:rPr>
              <a:t>image, 224 × 224</a:t>
            </a:r>
          </a:p>
        </p:txBody>
      </p:sp>
      <p:sp>
        <p:nvSpPr>
          <p:cNvPr id="31" name="Pipe img 2"/>
          <p:cNvSpPr/>
          <p:nvPr/>
        </p:nvSpPr>
        <p:spPr>
          <a:xfrm>
            <a:off x="2057400" y="1897380"/>
            <a:ext cx="1280160" cy="777240"/>
          </a:xfrm>
          <a:prstGeom prst="roundRect">
            <a:avLst>
              <a:gd name="adj" fmla="val 12000"/>
            </a:avLst>
          </a:prstGeom>
          <a:solidFill>
            <a:srgbClr val="F1F6F8"/>
          </a:solidFill>
          <a:ln w="12700">
            <a:solidFill>
              <a:srgbClr val="C9D6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1F2A37"/>
                </a:solidFill>
                <a:latin typeface="Calibri"/>
              </a:rPr>
              <a:t>Preprocessing</a:t>
            </a:r>
          </a:p>
          <a:p>
            <a:pPr algn="ctr"/>
            <a:r>
              <a:rPr sz="1000" b="0">
                <a:solidFill>
                  <a:srgbClr val="1F2A37"/>
                </a:solidFill>
                <a:latin typeface="Calibri"/>
              </a:rPr>
              <a:t>resize, normalise</a:t>
            </a:r>
          </a:p>
        </p:txBody>
      </p:sp>
      <p:sp>
        <p:nvSpPr>
          <p:cNvPr id="32" name="Pipe img 3"/>
          <p:cNvSpPr/>
          <p:nvPr/>
        </p:nvSpPr>
        <p:spPr>
          <a:xfrm>
            <a:off x="3611880" y="1897380"/>
            <a:ext cx="1280160" cy="777240"/>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DenseNet121</a:t>
            </a:r>
          </a:p>
          <a:p>
            <a:pPr algn="ctr"/>
            <a:r>
              <a:rPr sz="1000" b="0">
                <a:solidFill>
                  <a:srgbClr val="FFFFFF"/>
                </a:solidFill>
                <a:latin typeface="Calibri"/>
              </a:rPr>
              <a:t>7 × 7 × 1024</a:t>
            </a:r>
          </a:p>
        </p:txBody>
      </p:sp>
      <p:sp>
        <p:nvSpPr>
          <p:cNvPr id="33" name="Pipe img 4"/>
          <p:cNvSpPr/>
          <p:nvPr/>
        </p:nvSpPr>
        <p:spPr>
          <a:xfrm>
            <a:off x="5166360" y="1897380"/>
            <a:ext cx="1463040" cy="777240"/>
          </a:xfrm>
          <a:prstGeom prst="roundRect">
            <a:avLst>
              <a:gd name="adj" fmla="val 12000"/>
            </a:avLst>
          </a:prstGeom>
          <a:solidFill>
            <a:srgbClr val="E067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Attention Block</a:t>
            </a:r>
          </a:p>
          <a:p>
            <a:pPr algn="ctr"/>
            <a:r>
              <a:rPr sz="1000" b="0">
                <a:solidFill>
                  <a:srgbClr val="FFFFFF"/>
                </a:solidFill>
                <a:latin typeface="Calibri"/>
              </a:rPr>
              <a:t>7 × 7 × 1024</a:t>
            </a:r>
          </a:p>
        </p:txBody>
      </p:sp>
      <p:sp>
        <p:nvSpPr>
          <p:cNvPr id="34" name="Pipe img 5"/>
          <p:cNvSpPr/>
          <p:nvPr/>
        </p:nvSpPr>
        <p:spPr>
          <a:xfrm>
            <a:off x="6903720" y="1897380"/>
            <a:ext cx="914400" cy="777240"/>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GAP</a:t>
            </a:r>
          </a:p>
          <a:p>
            <a:pPr algn="ctr"/>
            <a:r>
              <a:rPr sz="1000" b="0">
                <a:solidFill>
                  <a:srgbClr val="FFFFFF"/>
                </a:solidFill>
                <a:latin typeface="Calibri"/>
              </a:rPr>
              <a:t>1024</a:t>
            </a:r>
          </a:p>
        </p:txBody>
      </p:sp>
      <p:sp>
        <p:nvSpPr>
          <p:cNvPr id="4" name="Arrow img"/>
          <p:cNvSpPr/>
          <p:nvPr/>
        </p:nvSpPr>
        <p:spPr>
          <a:xfrm>
            <a:off x="1783080" y="228600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row img"/>
          <p:cNvSpPr/>
          <p:nvPr/>
        </p:nvSpPr>
        <p:spPr>
          <a:xfrm>
            <a:off x="3337560" y="228600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row img"/>
          <p:cNvSpPr/>
          <p:nvPr/>
        </p:nvSpPr>
        <p:spPr>
          <a:xfrm>
            <a:off x="4892040" y="228600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row img"/>
          <p:cNvSpPr/>
          <p:nvPr/>
        </p:nvSpPr>
        <p:spPr>
          <a:xfrm>
            <a:off x="6629400" y="228600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ag proposed"/>
          <p:cNvSpPr txBox="1"/>
          <p:nvPr/>
        </p:nvSpPr>
        <p:spPr>
          <a:xfrm>
            <a:off x="5166360" y="1604772"/>
            <a:ext cx="1463040" cy="256032"/>
          </a:xfrm>
          <a:prstGeom prst="rect">
            <a:avLst/>
          </a:prstGeom>
          <a:noFill/>
        </p:spPr>
        <p:txBody>
          <a:bodyPr wrap="square" anchor="t" lIns="0" rIns="0" tIns="0" bIns="0">
            <a:spAutoFit/>
          </a:bodyPr>
          <a:lstStyle/>
          <a:p>
            <a:pPr algn="ctr"/>
            <a:r>
              <a:rPr sz="1050" b="1" i="0">
                <a:solidFill>
                  <a:srgbClr val="E0674F"/>
                </a:solidFill>
                <a:latin typeface="Calibri"/>
              </a:rPr>
              <a:t>Proposed contribution</a:t>
            </a:r>
          </a:p>
        </p:txBody>
      </p:sp>
      <p:sp>
        <p:nvSpPr>
          <p:cNvPr id="36" name="Pipe clin 1"/>
          <p:cNvSpPr/>
          <p:nvPr/>
        </p:nvSpPr>
        <p:spPr>
          <a:xfrm>
            <a:off x="548640" y="3223260"/>
            <a:ext cx="1234440" cy="777240"/>
          </a:xfrm>
          <a:prstGeom prst="roundRect">
            <a:avLst>
              <a:gd name="adj" fmla="val 12000"/>
            </a:avLst>
          </a:prstGeom>
          <a:solidFill>
            <a:srgbClr val="F1F6F8"/>
          </a:solidFill>
          <a:ln w="12700">
            <a:solidFill>
              <a:srgbClr val="C9D6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1F2A37"/>
                </a:solidFill>
                <a:latin typeface="Calibri"/>
              </a:rPr>
              <a:t>Clinical data</a:t>
            </a:r>
          </a:p>
          <a:p>
            <a:pPr algn="ctr"/>
            <a:r>
              <a:rPr sz="1000" b="0">
                <a:solidFill>
                  <a:srgbClr val="1F2A37"/>
                </a:solidFill>
                <a:latin typeface="Calibri"/>
              </a:rPr>
              <a:t>age, sex, site</a:t>
            </a:r>
          </a:p>
        </p:txBody>
      </p:sp>
      <p:sp>
        <p:nvSpPr>
          <p:cNvPr id="37" name="Pipe clin 2"/>
          <p:cNvSpPr/>
          <p:nvPr/>
        </p:nvSpPr>
        <p:spPr>
          <a:xfrm>
            <a:off x="2057400" y="3223260"/>
            <a:ext cx="1280160" cy="777240"/>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MLP</a:t>
            </a:r>
          </a:p>
          <a:p>
            <a:pPr algn="ctr"/>
            <a:r>
              <a:rPr sz="1000" b="0">
                <a:solidFill>
                  <a:srgbClr val="FFFFFF"/>
                </a:solidFill>
                <a:latin typeface="Calibri"/>
              </a:rPr>
              <a:t>FC 128 → FC 64</a:t>
            </a:r>
          </a:p>
        </p:txBody>
      </p:sp>
      <p:sp>
        <p:nvSpPr>
          <p:cNvPr id="8" name="Arrow clin"/>
          <p:cNvSpPr/>
          <p:nvPr/>
        </p:nvSpPr>
        <p:spPr>
          <a:xfrm>
            <a:off x="1783080" y="361188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ipe concat"/>
          <p:cNvSpPr/>
          <p:nvPr/>
        </p:nvSpPr>
        <p:spPr>
          <a:xfrm>
            <a:off x="8183879" y="2560320"/>
            <a:ext cx="960120" cy="777240"/>
          </a:xfrm>
          <a:prstGeom prst="roundRect">
            <a:avLst>
              <a:gd name="adj" fmla="val 12000"/>
            </a:avLst>
          </a:prstGeom>
          <a:solidFill>
            <a:srgbClr val="1027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Concat</a:t>
            </a:r>
          </a:p>
          <a:p>
            <a:pPr algn="ctr"/>
            <a:r>
              <a:rPr sz="1000" b="0">
                <a:solidFill>
                  <a:srgbClr val="FFFFFF"/>
                </a:solidFill>
                <a:latin typeface="Calibri"/>
              </a:rPr>
              <a:t>1088</a:t>
            </a:r>
          </a:p>
        </p:txBody>
      </p:sp>
      <p:sp>
        <p:nvSpPr>
          <p:cNvPr id="9" name="Arrow gap-concat"/>
          <p:cNvSpPr/>
          <p:nvPr/>
        </p:nvSpPr>
        <p:spPr>
          <a:xfrm>
            <a:off x="7818120" y="2286000"/>
            <a:ext cx="365759" cy="480060"/>
          </a:xfrm>
          <a:custGeom>
            <a:avLst/>
            <a:gdLst/>
            <a:ahLst/>
            <a:cxnLst/>
            <a:rect l="l" t="t" r="r" b="b"/>
            <a:pathLst>
              <a:path w="365759" h="480060">
                <a:moveTo>
                  <a:pt x="0" y="0"/>
                </a:moveTo>
                <a:lnTo>
                  <a:pt x="182880" y="0"/>
                </a:lnTo>
                <a:lnTo>
                  <a:pt x="182880" y="480060"/>
                </a:lnTo>
                <a:lnTo>
                  <a:pt x="365759" y="48006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row mlp-concat"/>
          <p:cNvSpPr/>
          <p:nvPr/>
        </p:nvSpPr>
        <p:spPr>
          <a:xfrm>
            <a:off x="3337560" y="3131820"/>
            <a:ext cx="4846319" cy="480060"/>
          </a:xfrm>
          <a:custGeom>
            <a:avLst/>
            <a:gdLst/>
            <a:ahLst/>
            <a:cxnLst/>
            <a:rect l="l" t="t" r="r" b="b"/>
            <a:pathLst>
              <a:path w="4846319" h="480060">
                <a:moveTo>
                  <a:pt x="0" y="480060"/>
                </a:moveTo>
                <a:lnTo>
                  <a:pt x="4663440" y="480060"/>
                </a:lnTo>
                <a:lnTo>
                  <a:pt x="4663440" y="0"/>
                </a:lnTo>
                <a:lnTo>
                  <a:pt x="4846319"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ipe dense"/>
          <p:cNvSpPr/>
          <p:nvPr/>
        </p:nvSpPr>
        <p:spPr>
          <a:xfrm>
            <a:off x="9418320" y="2560320"/>
            <a:ext cx="1005840" cy="777240"/>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Dense</a:t>
            </a:r>
          </a:p>
          <a:p>
            <a:pPr algn="ctr"/>
            <a:r>
              <a:rPr sz="1000" b="0">
                <a:solidFill>
                  <a:srgbClr val="FFFFFF"/>
                </a:solidFill>
                <a:latin typeface="Calibri"/>
              </a:rPr>
              <a:t>256, ReLU</a:t>
            </a:r>
          </a:p>
        </p:txBody>
      </p:sp>
      <p:sp>
        <p:nvSpPr>
          <p:cNvPr id="40" name="Pipe fc"/>
          <p:cNvSpPr/>
          <p:nvPr/>
        </p:nvSpPr>
        <p:spPr>
          <a:xfrm>
            <a:off x="10698480" y="2560320"/>
            <a:ext cx="941832" cy="777240"/>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FC</a:t>
            </a:r>
          </a:p>
          <a:p>
            <a:pPr algn="ctr"/>
            <a:r>
              <a:rPr sz="1000" b="0">
                <a:solidFill>
                  <a:srgbClr val="FFFFFF"/>
                </a:solidFill>
                <a:latin typeface="Calibri"/>
              </a:rPr>
              <a:t>softmax, 7</a:t>
            </a:r>
          </a:p>
        </p:txBody>
      </p:sp>
      <p:sp>
        <p:nvSpPr>
          <p:cNvPr id="11" name="Arrow concat-dense"/>
          <p:cNvSpPr/>
          <p:nvPr/>
        </p:nvSpPr>
        <p:spPr>
          <a:xfrm>
            <a:off x="9144000" y="294894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row dense-fc"/>
          <p:cNvSpPr/>
          <p:nvPr/>
        </p:nvSpPr>
        <p:spPr>
          <a:xfrm>
            <a:off x="10424160" y="294894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ption classes"/>
          <p:cNvSpPr txBox="1"/>
          <p:nvPr/>
        </p:nvSpPr>
        <p:spPr>
          <a:xfrm>
            <a:off x="8183879" y="3410712"/>
            <a:ext cx="3456432" cy="256032"/>
          </a:xfrm>
          <a:prstGeom prst="rect">
            <a:avLst/>
          </a:prstGeom>
          <a:noFill/>
        </p:spPr>
        <p:txBody>
          <a:bodyPr wrap="square" anchor="t" lIns="0" rIns="0" tIns="0" bIns="0">
            <a:spAutoFit/>
          </a:bodyPr>
          <a:lstStyle/>
          <a:p>
            <a:pPr algn="r"/>
            <a:r>
              <a:rPr sz="1000" b="0" i="0">
                <a:solidFill>
                  <a:srgbClr val="5B6B7A"/>
                </a:solidFill>
                <a:latin typeface="Calibri"/>
              </a:rPr>
              <a:t>Outputs: MEL, NV, BCC, AKIEC, BKL, DF, VASC</a:t>
            </a:r>
          </a:p>
        </p:txBody>
      </p:sp>
      <p:sp>
        <p:nvSpPr>
          <p:cNvPr id="42" name="Panel desc"/>
          <p:cNvSpPr/>
          <p:nvPr/>
        </p:nvSpPr>
        <p:spPr>
          <a:xfrm>
            <a:off x="548640" y="4297680"/>
            <a:ext cx="6720840" cy="1920240"/>
          </a:xfrm>
          <a:prstGeom prst="roundRect">
            <a:avLst>
              <a:gd name="adj" fmla="val 6000"/>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anel desc title"/>
          <p:cNvSpPr txBox="1"/>
          <p:nvPr/>
        </p:nvSpPr>
        <p:spPr>
          <a:xfrm>
            <a:off x="731520" y="4407408"/>
            <a:ext cx="6355079" cy="274320"/>
          </a:xfrm>
          <a:prstGeom prst="rect">
            <a:avLst/>
          </a:prstGeom>
          <a:noFill/>
        </p:spPr>
        <p:txBody>
          <a:bodyPr wrap="square" anchor="t" lIns="0" rIns="0" tIns="0" bIns="0">
            <a:spAutoFit/>
          </a:bodyPr>
          <a:lstStyle/>
          <a:p>
            <a:pPr algn="l"/>
            <a:r>
              <a:rPr sz="1250" b="1" i="0">
                <a:solidFill>
                  <a:srgbClr val="10273A"/>
                </a:solidFill>
                <a:latin typeface="Calibri"/>
              </a:rPr>
              <a:t>How the model works</a:t>
            </a:r>
          </a:p>
        </p:txBody>
      </p:sp>
      <p:sp>
        <p:nvSpPr>
          <p:cNvPr id="44" name="Desc steps"/>
          <p:cNvSpPr txBox="1"/>
          <p:nvPr/>
        </p:nvSpPr>
        <p:spPr>
          <a:xfrm>
            <a:off x="731520" y="4736592"/>
            <a:ext cx="6355080" cy="1417320"/>
          </a:xfrm>
          <a:prstGeom prst="rect">
            <a:avLst/>
          </a:prstGeom>
          <a:noFill/>
        </p:spPr>
        <p:txBody>
          <a:bodyPr wrap="square" lIns="0" rIns="0" tIns="0" bIns="0">
            <a:spAutoFit/>
          </a:bodyPr>
          <a:lstStyle/>
          <a:p>
            <a:pPr>
              <a:spcAft>
                <a:spcPts val="300"/>
              </a:spcAft>
            </a:pPr>
            <a:r>
              <a:rPr b="1" sz="1050">
                <a:solidFill>
                  <a:srgbClr val="1B8A93"/>
                </a:solidFill>
                <a:latin typeface="Calibri"/>
              </a:rPr>
              <a:t>1. </a:t>
            </a:r>
            <a:r>
              <a:rPr b="1" sz="1050">
                <a:solidFill>
                  <a:srgbClr val="10273A"/>
                </a:solidFill>
                <a:latin typeface="Calibri"/>
              </a:rPr>
              <a:t>Image branch: </a:t>
            </a:r>
            <a:r>
              <a:rPr sz="1050">
                <a:solidFill>
                  <a:srgbClr val="1F2A37"/>
                </a:solidFill>
                <a:latin typeface="Calibri"/>
              </a:rPr>
              <a:t>the image is resized and normalised; DenseNet121 (pretrained on ImageNet) produces a 7 × 7 × 1024 feature map.</a:t>
            </a:r>
          </a:p>
          <a:p>
            <a:pPr>
              <a:spcAft>
                <a:spcPts val="300"/>
              </a:spcAft>
            </a:pPr>
            <a:r>
              <a:rPr b="1" sz="1050">
                <a:solidFill>
                  <a:srgbClr val="1B8A93"/>
                </a:solidFill>
                <a:latin typeface="Calibri"/>
              </a:rPr>
              <a:t>2. </a:t>
            </a:r>
            <a:r>
              <a:rPr b="1" sz="1050">
                <a:solidFill>
                  <a:srgbClr val="10273A"/>
                </a:solidFill>
                <a:latin typeface="Calibri"/>
              </a:rPr>
              <a:t>Attention block: </a:t>
            </a:r>
            <a:r>
              <a:rPr sz="1050">
                <a:solidFill>
                  <a:srgbClr val="1F2A37"/>
                </a:solidFill>
                <a:latin typeface="Calibri"/>
              </a:rPr>
              <a:t>the proposed block gives more weight to lesion regions and less to the background (see next slide).</a:t>
            </a:r>
          </a:p>
          <a:p>
            <a:pPr>
              <a:spcAft>
                <a:spcPts val="300"/>
              </a:spcAft>
            </a:pPr>
            <a:r>
              <a:rPr b="1" sz="1050">
                <a:solidFill>
                  <a:srgbClr val="1B8A93"/>
                </a:solidFill>
                <a:latin typeface="Calibri"/>
              </a:rPr>
              <a:t>3. </a:t>
            </a:r>
            <a:r>
              <a:rPr b="1" sz="1050">
                <a:solidFill>
                  <a:srgbClr val="10273A"/>
                </a:solidFill>
                <a:latin typeface="Calibri"/>
              </a:rPr>
              <a:t>Pooling and clinical data: </a:t>
            </a:r>
            <a:r>
              <a:rPr sz="1050">
                <a:solidFill>
                  <a:srgbClr val="1F2A37"/>
                </a:solidFill>
                <a:latin typeface="Calibri"/>
              </a:rPr>
              <a:t>GAP turns the map into 1024 values; age, sex and body site go through the MLP to give 64 values.</a:t>
            </a:r>
          </a:p>
          <a:p>
            <a:pPr>
              <a:spcAft>
                <a:spcPts val="300"/>
              </a:spcAft>
            </a:pPr>
            <a:r>
              <a:rPr b="1" sz="1050">
                <a:solidFill>
                  <a:srgbClr val="1B8A93"/>
                </a:solidFill>
                <a:latin typeface="Calibri"/>
              </a:rPr>
              <a:t>4. </a:t>
            </a:r>
            <a:r>
              <a:rPr b="1" sz="1050">
                <a:solidFill>
                  <a:srgbClr val="10273A"/>
                </a:solidFill>
                <a:latin typeface="Calibri"/>
              </a:rPr>
              <a:t>Fusion and classification: </a:t>
            </a:r>
            <a:r>
              <a:rPr sz="1050">
                <a:solidFill>
                  <a:srgbClr val="1F2A37"/>
                </a:solidFill>
                <a:latin typeface="Calibri"/>
              </a:rPr>
              <a:t>the two are joined (1088 values); a dense layer and an FC layer with softmax predict one of 7 classes.</a:t>
            </a:r>
          </a:p>
        </p:txBody>
      </p:sp>
      <p:sp>
        <p:nvSpPr>
          <p:cNvPr id="45" name="Panel abbr"/>
          <p:cNvSpPr/>
          <p:nvPr/>
        </p:nvSpPr>
        <p:spPr>
          <a:xfrm>
            <a:off x="7498079" y="4297680"/>
            <a:ext cx="4142232" cy="1920240"/>
          </a:xfrm>
          <a:prstGeom prst="roundRect">
            <a:avLst>
              <a:gd name="adj" fmla="val 6000"/>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anel abbr title"/>
          <p:cNvSpPr txBox="1"/>
          <p:nvPr/>
        </p:nvSpPr>
        <p:spPr>
          <a:xfrm>
            <a:off x="7680959" y="4407408"/>
            <a:ext cx="3776472" cy="274320"/>
          </a:xfrm>
          <a:prstGeom prst="rect">
            <a:avLst/>
          </a:prstGeom>
          <a:noFill/>
        </p:spPr>
        <p:txBody>
          <a:bodyPr wrap="square" anchor="t" lIns="0" rIns="0" tIns="0" bIns="0">
            <a:spAutoFit/>
          </a:bodyPr>
          <a:lstStyle/>
          <a:p>
            <a:pPr algn="l"/>
            <a:r>
              <a:rPr sz="1250" b="1" i="0">
                <a:solidFill>
                  <a:srgbClr val="10273A"/>
                </a:solidFill>
                <a:latin typeface="Calibri"/>
              </a:rPr>
              <a:t>Abbreviations</a:t>
            </a:r>
          </a:p>
        </p:txBody>
      </p:sp>
      <p:sp>
        <p:nvSpPr>
          <p:cNvPr id="47" name="Abbr col1"/>
          <p:cNvSpPr txBox="1"/>
          <p:nvPr/>
        </p:nvSpPr>
        <p:spPr>
          <a:xfrm>
            <a:off x="7680960" y="4736592"/>
            <a:ext cx="1874519" cy="1417320"/>
          </a:xfrm>
          <a:prstGeom prst="rect">
            <a:avLst/>
          </a:prstGeom>
          <a:noFill/>
        </p:spPr>
        <p:txBody>
          <a:bodyPr wrap="square" lIns="0" rIns="0" tIns="0" bIns="0">
            <a:spAutoFit/>
          </a:bodyPr>
          <a:lstStyle/>
          <a:p>
            <a:pPr>
              <a:spcAft>
                <a:spcPts val="200"/>
              </a:spcAft>
            </a:pPr>
            <a:r>
              <a:rPr b="1" sz="950">
                <a:solidFill>
                  <a:srgbClr val="1B8A93"/>
                </a:solidFill>
                <a:latin typeface="Calibri"/>
              </a:rPr>
              <a:t>DenseNet: </a:t>
            </a:r>
            <a:r>
              <a:rPr sz="950">
                <a:solidFill>
                  <a:srgbClr val="1F2A37"/>
                </a:solidFill>
                <a:latin typeface="Calibri"/>
              </a:rPr>
              <a:t>Densely Connected Convolutional Network</a:t>
            </a:r>
          </a:p>
          <a:p>
            <a:pPr>
              <a:spcAft>
                <a:spcPts val="200"/>
              </a:spcAft>
            </a:pPr>
            <a:r>
              <a:rPr b="1" sz="950">
                <a:solidFill>
                  <a:srgbClr val="1B8A93"/>
                </a:solidFill>
                <a:latin typeface="Calibri"/>
              </a:rPr>
              <a:t>GAP: </a:t>
            </a:r>
            <a:r>
              <a:rPr sz="950">
                <a:solidFill>
                  <a:srgbClr val="1F2A37"/>
                </a:solidFill>
                <a:latin typeface="Calibri"/>
              </a:rPr>
              <a:t>Global Average Pooling</a:t>
            </a:r>
          </a:p>
          <a:p>
            <a:pPr>
              <a:spcAft>
                <a:spcPts val="200"/>
              </a:spcAft>
            </a:pPr>
            <a:r>
              <a:rPr b="1" sz="950">
                <a:solidFill>
                  <a:srgbClr val="1B8A93"/>
                </a:solidFill>
                <a:latin typeface="Calibri"/>
              </a:rPr>
              <a:t>MLP: </a:t>
            </a:r>
            <a:r>
              <a:rPr sz="950">
                <a:solidFill>
                  <a:srgbClr val="1F2A37"/>
                </a:solidFill>
                <a:latin typeface="Calibri"/>
              </a:rPr>
              <a:t>Multilayer Perceptron</a:t>
            </a:r>
          </a:p>
          <a:p>
            <a:pPr>
              <a:spcAft>
                <a:spcPts val="200"/>
              </a:spcAft>
            </a:pPr>
            <a:r>
              <a:rPr b="1" sz="950">
                <a:solidFill>
                  <a:srgbClr val="1B8A93"/>
                </a:solidFill>
                <a:latin typeface="Calibri"/>
              </a:rPr>
              <a:t>FC: </a:t>
            </a:r>
            <a:r>
              <a:rPr sz="950">
                <a:solidFill>
                  <a:srgbClr val="1F2A37"/>
                </a:solidFill>
                <a:latin typeface="Calibri"/>
              </a:rPr>
              <a:t>Fully Connected layer</a:t>
            </a:r>
          </a:p>
          <a:p>
            <a:pPr>
              <a:spcAft>
                <a:spcPts val="200"/>
              </a:spcAft>
            </a:pPr>
            <a:r>
              <a:rPr b="1" sz="950">
                <a:solidFill>
                  <a:srgbClr val="1B8A93"/>
                </a:solidFill>
                <a:latin typeface="Calibri"/>
              </a:rPr>
              <a:t>ReLU: </a:t>
            </a:r>
            <a:r>
              <a:rPr sz="950">
                <a:solidFill>
                  <a:srgbClr val="1F2A37"/>
                </a:solidFill>
                <a:latin typeface="Calibri"/>
              </a:rPr>
              <a:t>Rectified Linear Unit</a:t>
            </a:r>
          </a:p>
        </p:txBody>
      </p:sp>
      <p:sp>
        <p:nvSpPr>
          <p:cNvPr id="48" name="Abbr col2"/>
          <p:cNvSpPr txBox="1"/>
          <p:nvPr/>
        </p:nvSpPr>
        <p:spPr>
          <a:xfrm>
            <a:off x="9646920" y="4736592"/>
            <a:ext cx="1874519" cy="1417320"/>
          </a:xfrm>
          <a:prstGeom prst="rect">
            <a:avLst/>
          </a:prstGeom>
          <a:noFill/>
        </p:spPr>
        <p:txBody>
          <a:bodyPr wrap="square" lIns="0" rIns="0" tIns="0" bIns="0">
            <a:spAutoFit/>
          </a:bodyPr>
          <a:lstStyle/>
          <a:p>
            <a:pPr>
              <a:spcAft>
                <a:spcPts val="200"/>
              </a:spcAft>
            </a:pPr>
            <a:r>
              <a:rPr b="1" sz="950">
                <a:solidFill>
                  <a:srgbClr val="1B8A93"/>
                </a:solidFill>
                <a:latin typeface="Calibri"/>
              </a:rPr>
              <a:t>MEL: </a:t>
            </a:r>
            <a:r>
              <a:rPr sz="950">
                <a:solidFill>
                  <a:srgbClr val="1F2A37"/>
                </a:solidFill>
                <a:latin typeface="Calibri"/>
              </a:rPr>
              <a:t>Melanoma</a:t>
            </a:r>
          </a:p>
          <a:p>
            <a:pPr>
              <a:spcAft>
                <a:spcPts val="200"/>
              </a:spcAft>
            </a:pPr>
            <a:r>
              <a:rPr b="1" sz="950">
                <a:solidFill>
                  <a:srgbClr val="1B8A93"/>
                </a:solidFill>
                <a:latin typeface="Calibri"/>
              </a:rPr>
              <a:t>NV: </a:t>
            </a:r>
            <a:r>
              <a:rPr sz="950">
                <a:solidFill>
                  <a:srgbClr val="1F2A37"/>
                </a:solidFill>
                <a:latin typeface="Calibri"/>
              </a:rPr>
              <a:t>Melanocytic nevus</a:t>
            </a:r>
          </a:p>
          <a:p>
            <a:pPr>
              <a:spcAft>
                <a:spcPts val="200"/>
              </a:spcAft>
            </a:pPr>
            <a:r>
              <a:rPr b="1" sz="950">
                <a:solidFill>
                  <a:srgbClr val="1B8A93"/>
                </a:solidFill>
                <a:latin typeface="Calibri"/>
              </a:rPr>
              <a:t>BCC: </a:t>
            </a:r>
            <a:r>
              <a:rPr sz="950">
                <a:solidFill>
                  <a:srgbClr val="1F2A37"/>
                </a:solidFill>
                <a:latin typeface="Calibri"/>
              </a:rPr>
              <a:t>Basal cell carcinoma</a:t>
            </a:r>
          </a:p>
          <a:p>
            <a:pPr>
              <a:spcAft>
                <a:spcPts val="200"/>
              </a:spcAft>
            </a:pPr>
            <a:r>
              <a:rPr b="1" sz="950">
                <a:solidFill>
                  <a:srgbClr val="1B8A93"/>
                </a:solidFill>
                <a:latin typeface="Calibri"/>
              </a:rPr>
              <a:t>AKIEC: </a:t>
            </a:r>
            <a:r>
              <a:rPr sz="950">
                <a:solidFill>
                  <a:srgbClr val="1F2A37"/>
                </a:solidFill>
                <a:latin typeface="Calibri"/>
              </a:rPr>
              <a:t>Actinic keratosis / intraepithelial carcinoma</a:t>
            </a:r>
          </a:p>
          <a:p>
            <a:pPr>
              <a:spcAft>
                <a:spcPts val="200"/>
              </a:spcAft>
            </a:pPr>
            <a:r>
              <a:rPr b="1" sz="950">
                <a:solidFill>
                  <a:srgbClr val="1B8A93"/>
                </a:solidFill>
                <a:latin typeface="Calibri"/>
              </a:rPr>
              <a:t>BKL: </a:t>
            </a:r>
            <a:r>
              <a:rPr sz="950">
                <a:solidFill>
                  <a:srgbClr val="1F2A37"/>
                </a:solidFill>
                <a:latin typeface="Calibri"/>
              </a:rPr>
              <a:t>Benign keratosis-like lesion</a:t>
            </a:r>
          </a:p>
          <a:p>
            <a:pPr>
              <a:spcAft>
                <a:spcPts val="200"/>
              </a:spcAft>
            </a:pPr>
            <a:r>
              <a:rPr b="1" sz="950">
                <a:solidFill>
                  <a:srgbClr val="1B8A93"/>
                </a:solidFill>
                <a:latin typeface="Calibri"/>
              </a:rPr>
              <a:t>DF: </a:t>
            </a:r>
            <a:r>
              <a:rPr sz="950">
                <a:solidFill>
                  <a:srgbClr val="1F2A37"/>
                </a:solidFill>
                <a:latin typeface="Calibri"/>
              </a:rPr>
              <a:t>Dermatofibroma</a:t>
            </a:r>
          </a:p>
          <a:p>
            <a:pPr>
              <a:spcAft>
                <a:spcPts val="200"/>
              </a:spcAft>
            </a:pPr>
            <a:r>
              <a:rPr b="1" sz="950">
                <a:solidFill>
                  <a:srgbClr val="1B8A93"/>
                </a:solidFill>
                <a:latin typeface="Calibri"/>
              </a:rPr>
              <a:t>VASC: </a:t>
            </a:r>
            <a:r>
              <a:rPr sz="950">
                <a:solidFill>
                  <a:srgbClr val="1F2A37"/>
                </a:solidFill>
                <a:latin typeface="Calibri"/>
              </a:rPr>
              <a:t>Vascular lesion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Design &amp; Methodology: Spatial Attention Module</a:t>
            </a:r>
            <a:endParaRPr lang="en-US" sz="34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Proposed block: learns a map M that shows where to focus in the DenseNet121 features F (7 × 7 × 1024)</a:t>
            </a:r>
            <a:endParaRPr lang="en-US" sz="1600" dirty="0"/>
          </a:p>
        </p:txBody>
      </p:sp>
      <p:sp>
        <p:nvSpPr>
          <p:cNvPr id="52" name="Text 5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53" name="Text 51"/>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
        <p:nvSpPr>
          <p:cNvPr id="54" name="Att input"/>
          <p:cNvSpPr/>
          <p:nvPr/>
        </p:nvSpPr>
        <p:spPr>
          <a:xfrm>
            <a:off x="548640" y="2441448"/>
            <a:ext cx="1097280" cy="786384"/>
          </a:xfrm>
          <a:prstGeom prst="roundRect">
            <a:avLst>
              <a:gd name="adj" fmla="val 12000"/>
            </a:avLst>
          </a:prstGeom>
          <a:solidFill>
            <a:srgbClr val="1027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Input F</a:t>
            </a:r>
          </a:p>
          <a:p>
            <a:pPr algn="ctr"/>
            <a:r>
              <a:rPr sz="1000" b="0">
                <a:solidFill>
                  <a:srgbClr val="FFFFFF"/>
                </a:solidFill>
                <a:latin typeface="Calibri"/>
              </a:rPr>
              <a:t>H × W × C</a:t>
            </a:r>
          </a:p>
        </p:txBody>
      </p:sp>
      <p:sp>
        <p:nvSpPr>
          <p:cNvPr id="55" name="Att op 1"/>
          <p:cNvSpPr/>
          <p:nvPr/>
        </p:nvSpPr>
        <p:spPr>
          <a:xfrm>
            <a:off x="2011680" y="1709928"/>
            <a:ext cx="1417320" cy="512064"/>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Conv 1 × 1</a:t>
            </a:r>
          </a:p>
          <a:p>
            <a:pPr algn="ctr"/>
            <a:r>
              <a:rPr sz="950" b="0">
                <a:solidFill>
                  <a:srgbClr val="FFFFFF"/>
                </a:solidFill>
                <a:latin typeface="Calibri"/>
              </a:rPr>
              <a:t>C → 1</a:t>
            </a:r>
          </a:p>
        </p:txBody>
      </p:sp>
      <p:sp>
        <p:nvSpPr>
          <p:cNvPr id="56" name="Att t 1"/>
          <p:cNvSpPr/>
          <p:nvPr/>
        </p:nvSpPr>
        <p:spPr>
          <a:xfrm>
            <a:off x="3703320" y="1709928"/>
            <a:ext cx="960120" cy="512064"/>
          </a:xfrm>
          <a:prstGeom prst="roundRect">
            <a:avLst>
              <a:gd name="adj" fmla="val 12000"/>
            </a:avLst>
          </a:prstGeom>
          <a:solidFill>
            <a:srgbClr val="F1F6F8"/>
          </a:solidFill>
          <a:ln w="12700">
            <a:solidFill>
              <a:srgbClr val="C9D6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F2A37"/>
                </a:solidFill>
                <a:latin typeface="Calibri"/>
              </a:rPr>
              <a:t>H × W × 1</a:t>
            </a:r>
          </a:p>
        </p:txBody>
      </p:sp>
      <p:sp>
        <p:nvSpPr>
          <p:cNvPr id="4" name="Arrow op-t"/>
          <p:cNvSpPr/>
          <p:nvPr/>
        </p:nvSpPr>
        <p:spPr>
          <a:xfrm>
            <a:off x="3429000" y="196596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row in-op"/>
          <p:cNvSpPr/>
          <p:nvPr/>
        </p:nvSpPr>
        <p:spPr>
          <a:xfrm>
            <a:off x="1645920" y="1965960"/>
            <a:ext cx="365760" cy="868680"/>
          </a:xfrm>
          <a:custGeom>
            <a:avLst/>
            <a:gdLst/>
            <a:ahLst/>
            <a:cxnLst/>
            <a:rect l="l" t="t" r="r" b="b"/>
            <a:pathLst>
              <a:path w="365760" h="868680">
                <a:moveTo>
                  <a:pt x="0" y="868680"/>
                </a:moveTo>
                <a:lnTo>
                  <a:pt x="182880" y="868680"/>
                </a:lnTo>
                <a:lnTo>
                  <a:pt x="182880" y="0"/>
                </a:lnTo>
                <a:lnTo>
                  <a:pt x="36576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 op 2"/>
          <p:cNvSpPr/>
          <p:nvPr/>
        </p:nvSpPr>
        <p:spPr>
          <a:xfrm>
            <a:off x="2011680" y="2578608"/>
            <a:ext cx="1417320" cy="512064"/>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Max pooling</a:t>
            </a:r>
          </a:p>
          <a:p>
            <a:pPr algn="ctr"/>
            <a:r>
              <a:rPr sz="950" b="0">
                <a:solidFill>
                  <a:srgbClr val="FFFFFF"/>
                </a:solidFill>
                <a:latin typeface="Calibri"/>
              </a:rPr>
              <a:t>over channels</a:t>
            </a:r>
          </a:p>
        </p:txBody>
      </p:sp>
      <p:sp>
        <p:nvSpPr>
          <p:cNvPr id="58" name="Att t 2"/>
          <p:cNvSpPr/>
          <p:nvPr/>
        </p:nvSpPr>
        <p:spPr>
          <a:xfrm>
            <a:off x="3703320" y="2578608"/>
            <a:ext cx="960120" cy="512064"/>
          </a:xfrm>
          <a:prstGeom prst="roundRect">
            <a:avLst>
              <a:gd name="adj" fmla="val 12000"/>
            </a:avLst>
          </a:prstGeom>
          <a:solidFill>
            <a:srgbClr val="F1F6F8"/>
          </a:solidFill>
          <a:ln w="12700">
            <a:solidFill>
              <a:srgbClr val="C9D6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F2A37"/>
                </a:solidFill>
                <a:latin typeface="Calibri"/>
              </a:rPr>
              <a:t>H × W × 1</a:t>
            </a:r>
          </a:p>
        </p:txBody>
      </p:sp>
      <p:sp>
        <p:nvSpPr>
          <p:cNvPr id="6" name="Arrow op-t"/>
          <p:cNvSpPr/>
          <p:nvPr/>
        </p:nvSpPr>
        <p:spPr>
          <a:xfrm>
            <a:off x="3429000" y="283464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row in-op"/>
          <p:cNvSpPr/>
          <p:nvPr/>
        </p:nvSpPr>
        <p:spPr>
          <a:xfrm>
            <a:off x="1645920" y="2834640"/>
            <a:ext cx="365760" cy="0"/>
          </a:xfrm>
          <a:custGeom>
            <a:avLst/>
            <a:gdLst/>
            <a:ahLst/>
            <a:cxnLst/>
            <a:rect l="l" t="t" r="r" b="b"/>
            <a:pathLst>
              <a:path w="365760" h="0">
                <a:moveTo>
                  <a:pt x="0" y="0"/>
                </a:moveTo>
                <a:lnTo>
                  <a:pt x="36576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 op 3"/>
          <p:cNvSpPr/>
          <p:nvPr/>
        </p:nvSpPr>
        <p:spPr>
          <a:xfrm>
            <a:off x="2011680" y="3447287"/>
            <a:ext cx="1417320" cy="512064"/>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Avg pooling</a:t>
            </a:r>
          </a:p>
          <a:p>
            <a:pPr algn="ctr"/>
            <a:r>
              <a:rPr sz="950" b="0">
                <a:solidFill>
                  <a:srgbClr val="FFFFFF"/>
                </a:solidFill>
                <a:latin typeface="Calibri"/>
              </a:rPr>
              <a:t>over channels</a:t>
            </a:r>
          </a:p>
        </p:txBody>
      </p:sp>
      <p:sp>
        <p:nvSpPr>
          <p:cNvPr id="60" name="Att t 3"/>
          <p:cNvSpPr/>
          <p:nvPr/>
        </p:nvSpPr>
        <p:spPr>
          <a:xfrm>
            <a:off x="3703320" y="3447287"/>
            <a:ext cx="960120" cy="512064"/>
          </a:xfrm>
          <a:prstGeom prst="roundRect">
            <a:avLst>
              <a:gd name="adj" fmla="val 12000"/>
            </a:avLst>
          </a:prstGeom>
          <a:solidFill>
            <a:srgbClr val="F1F6F8"/>
          </a:solidFill>
          <a:ln w="12700">
            <a:solidFill>
              <a:srgbClr val="C9D6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F2A37"/>
                </a:solidFill>
                <a:latin typeface="Calibri"/>
              </a:rPr>
              <a:t>H × W × 1</a:t>
            </a:r>
          </a:p>
        </p:txBody>
      </p:sp>
      <p:sp>
        <p:nvSpPr>
          <p:cNvPr id="8" name="Arrow op-t"/>
          <p:cNvSpPr/>
          <p:nvPr/>
        </p:nvSpPr>
        <p:spPr>
          <a:xfrm>
            <a:off x="3429000" y="370332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row in-op"/>
          <p:cNvSpPr/>
          <p:nvPr/>
        </p:nvSpPr>
        <p:spPr>
          <a:xfrm>
            <a:off x="1645920" y="2834640"/>
            <a:ext cx="365760" cy="868680"/>
          </a:xfrm>
          <a:custGeom>
            <a:avLst/>
            <a:gdLst/>
            <a:ahLst/>
            <a:cxnLst/>
            <a:rect l="l" t="t" r="r" b="b"/>
            <a:pathLst>
              <a:path w="365760" h="868680">
                <a:moveTo>
                  <a:pt x="0" y="0"/>
                </a:moveTo>
                <a:lnTo>
                  <a:pt x="182880" y="0"/>
                </a:lnTo>
                <a:lnTo>
                  <a:pt x="182880" y="868680"/>
                </a:lnTo>
                <a:lnTo>
                  <a:pt x="365760" y="86868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 gate"/>
          <p:cNvSpPr/>
          <p:nvPr/>
        </p:nvSpPr>
        <p:spPr>
          <a:xfrm>
            <a:off x="4937760" y="3447287"/>
            <a:ext cx="1371600" cy="512064"/>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Reshape 1 × HW</a:t>
            </a:r>
          </a:p>
          <a:p>
            <a:pPr algn="ctr"/>
            <a:r>
              <a:rPr sz="950" b="0">
                <a:solidFill>
                  <a:srgbClr val="FFFFFF"/>
                </a:solidFill>
                <a:latin typeface="Calibri"/>
              </a:rPr>
              <a:t>sigmoid</a:t>
            </a:r>
          </a:p>
        </p:txBody>
      </p:sp>
      <p:sp>
        <p:nvSpPr>
          <p:cNvPr id="10" name="Arrow t3-gate"/>
          <p:cNvSpPr/>
          <p:nvPr/>
        </p:nvSpPr>
        <p:spPr>
          <a:xfrm>
            <a:off x="4663440" y="370332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 mul 1"/>
          <p:cNvSpPr/>
          <p:nvPr/>
        </p:nvSpPr>
        <p:spPr>
          <a:xfrm>
            <a:off x="6437376" y="3511296"/>
            <a:ext cx="384048" cy="384048"/>
          </a:xfrm>
          <a:prstGeom prst="ellipse">
            <a:avLst/>
          </a:prstGeom>
          <a:solidFill>
            <a:srgbClr val="FFFFFF"/>
          </a:solidFill>
          <a:ln w="19050">
            <a:solidFill>
              <a:srgbClr val="1027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10273A"/>
                </a:solidFill>
                <a:latin typeface="Calibri"/>
              </a:rPr>
              <a:t>×</a:t>
            </a:r>
          </a:p>
        </p:txBody>
      </p:sp>
      <p:sp>
        <p:nvSpPr>
          <p:cNvPr id="11" name="Arrow gate-mul"/>
          <p:cNvSpPr/>
          <p:nvPr/>
        </p:nvSpPr>
        <p:spPr>
          <a:xfrm>
            <a:off x="6309360" y="3703320"/>
            <a:ext cx="128016" cy="0"/>
          </a:xfrm>
          <a:custGeom>
            <a:avLst/>
            <a:gdLst/>
            <a:ahLst/>
            <a:cxnLst/>
            <a:rect l="l" t="t" r="r" b="b"/>
            <a:pathLst>
              <a:path w="128016" h="0">
                <a:moveTo>
                  <a:pt x="0" y="0"/>
                </a:moveTo>
                <a:lnTo>
                  <a:pt x="128016"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row A-mul"/>
          <p:cNvSpPr/>
          <p:nvPr/>
        </p:nvSpPr>
        <p:spPr>
          <a:xfrm>
            <a:off x="4183380" y="3895344"/>
            <a:ext cx="2446020" cy="237743"/>
          </a:xfrm>
          <a:custGeom>
            <a:avLst/>
            <a:gdLst/>
            <a:ahLst/>
            <a:cxnLst/>
            <a:rect l="l" t="t" r="r" b="b"/>
            <a:pathLst>
              <a:path w="2446020" h="237743">
                <a:moveTo>
                  <a:pt x="0" y="64008"/>
                </a:moveTo>
                <a:lnTo>
                  <a:pt x="0" y="237743"/>
                </a:lnTo>
                <a:lnTo>
                  <a:pt x="2446020" y="237743"/>
                </a:lnTo>
                <a:lnTo>
                  <a:pt x="24460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 concat"/>
          <p:cNvSpPr/>
          <p:nvPr/>
        </p:nvSpPr>
        <p:spPr>
          <a:xfrm>
            <a:off x="7269480" y="2441448"/>
            <a:ext cx="960120" cy="786384"/>
          </a:xfrm>
          <a:prstGeom prst="roundRect">
            <a:avLst>
              <a:gd name="adj" fmla="val 12000"/>
            </a:avLst>
          </a:prstGeom>
          <a:solidFill>
            <a:srgbClr val="1027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Concat</a:t>
            </a:r>
          </a:p>
          <a:p>
            <a:pPr algn="ctr"/>
            <a:r>
              <a:rPr sz="950" b="0">
                <a:solidFill>
                  <a:srgbClr val="FFFFFF"/>
                </a:solidFill>
                <a:latin typeface="Calibri"/>
              </a:rPr>
              <a:t>H × W × 3</a:t>
            </a:r>
          </a:p>
        </p:txBody>
      </p:sp>
      <p:sp>
        <p:nvSpPr>
          <p:cNvPr id="13" name="Arrow t1-cat"/>
          <p:cNvSpPr/>
          <p:nvPr/>
        </p:nvSpPr>
        <p:spPr>
          <a:xfrm>
            <a:off x="4663440" y="1965960"/>
            <a:ext cx="2606040" cy="640080"/>
          </a:xfrm>
          <a:custGeom>
            <a:avLst/>
            <a:gdLst/>
            <a:ahLst/>
            <a:cxnLst/>
            <a:rect l="l" t="t" r="r" b="b"/>
            <a:pathLst>
              <a:path w="2606040" h="640080">
                <a:moveTo>
                  <a:pt x="0" y="0"/>
                </a:moveTo>
                <a:lnTo>
                  <a:pt x="2423160" y="0"/>
                </a:lnTo>
                <a:lnTo>
                  <a:pt x="2423160" y="640080"/>
                </a:lnTo>
                <a:lnTo>
                  <a:pt x="2606040" y="64008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row t2-cat"/>
          <p:cNvSpPr/>
          <p:nvPr/>
        </p:nvSpPr>
        <p:spPr>
          <a:xfrm>
            <a:off x="4663440" y="2834640"/>
            <a:ext cx="2606040" cy="0"/>
          </a:xfrm>
          <a:custGeom>
            <a:avLst/>
            <a:gdLst/>
            <a:ahLst/>
            <a:cxnLst/>
            <a:rect l="l" t="t" r="r" b="b"/>
            <a:pathLst>
              <a:path w="2606040" h="0">
                <a:moveTo>
                  <a:pt x="0" y="0"/>
                </a:moveTo>
                <a:lnTo>
                  <a:pt x="260604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row mul-cat"/>
          <p:cNvSpPr/>
          <p:nvPr/>
        </p:nvSpPr>
        <p:spPr>
          <a:xfrm>
            <a:off x="6821424" y="3063240"/>
            <a:ext cx="448056" cy="640080"/>
          </a:xfrm>
          <a:custGeom>
            <a:avLst/>
            <a:gdLst/>
            <a:ahLst/>
            <a:cxnLst/>
            <a:rect l="l" t="t" r="r" b="b"/>
            <a:pathLst>
              <a:path w="448056" h="640080">
                <a:moveTo>
                  <a:pt x="0" y="640080"/>
                </a:moveTo>
                <a:lnTo>
                  <a:pt x="265176" y="640080"/>
                </a:lnTo>
                <a:lnTo>
                  <a:pt x="265176" y="0"/>
                </a:lnTo>
                <a:lnTo>
                  <a:pt x="448056"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 fuse"/>
          <p:cNvSpPr/>
          <p:nvPr/>
        </p:nvSpPr>
        <p:spPr>
          <a:xfrm>
            <a:off x="8503920" y="2578608"/>
            <a:ext cx="1188720" cy="512064"/>
          </a:xfrm>
          <a:prstGeom prst="roundRect">
            <a:avLst>
              <a:gd name="adj" fmla="val 12000"/>
            </a:avLst>
          </a:prstGeom>
          <a:solidFill>
            <a:srgbClr val="1B8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Conv 1 × 1</a:t>
            </a:r>
          </a:p>
          <a:p>
            <a:pPr algn="ctr"/>
            <a:r>
              <a:rPr sz="950" b="0">
                <a:solidFill>
                  <a:srgbClr val="FFFFFF"/>
                </a:solidFill>
                <a:latin typeface="Calibri"/>
              </a:rPr>
              <a:t>3 → 1, sigmoid</a:t>
            </a:r>
          </a:p>
        </p:txBody>
      </p:sp>
      <p:sp>
        <p:nvSpPr>
          <p:cNvPr id="16" name="Arrow cat-fuse"/>
          <p:cNvSpPr/>
          <p:nvPr/>
        </p:nvSpPr>
        <p:spPr>
          <a:xfrm>
            <a:off x="8229600" y="2834640"/>
            <a:ext cx="274320" cy="0"/>
          </a:xfrm>
          <a:custGeom>
            <a:avLst/>
            <a:gdLst/>
            <a:ahLst/>
            <a:cxnLst/>
            <a:rect l="l" t="t" r="r" b="b"/>
            <a:pathLst>
              <a:path w="274320" h="0">
                <a:moveTo>
                  <a:pt x="0" y="0"/>
                </a:moveTo>
                <a:lnTo>
                  <a:pt x="27432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 mul 2"/>
          <p:cNvSpPr/>
          <p:nvPr/>
        </p:nvSpPr>
        <p:spPr>
          <a:xfrm>
            <a:off x="9912096" y="2642616"/>
            <a:ext cx="384048" cy="384048"/>
          </a:xfrm>
          <a:prstGeom prst="ellipse">
            <a:avLst/>
          </a:prstGeom>
          <a:solidFill>
            <a:srgbClr val="FFFFFF"/>
          </a:solidFill>
          <a:ln w="19050">
            <a:solidFill>
              <a:srgbClr val="1027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10273A"/>
                </a:solidFill>
                <a:latin typeface="Calibri"/>
              </a:rPr>
              <a:t>×</a:t>
            </a:r>
          </a:p>
        </p:txBody>
      </p:sp>
      <p:sp>
        <p:nvSpPr>
          <p:cNvPr id="17" name="Arrow fuse-mul"/>
          <p:cNvSpPr/>
          <p:nvPr/>
        </p:nvSpPr>
        <p:spPr>
          <a:xfrm>
            <a:off x="9692640" y="2834640"/>
            <a:ext cx="219456" cy="0"/>
          </a:xfrm>
          <a:custGeom>
            <a:avLst/>
            <a:gdLst/>
            <a:ahLst/>
            <a:cxnLst/>
            <a:rect l="l" t="t" r="r" b="b"/>
            <a:pathLst>
              <a:path w="219456" h="0">
                <a:moveTo>
                  <a:pt x="0" y="0"/>
                </a:moveTo>
                <a:lnTo>
                  <a:pt x="219456"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abel M"/>
          <p:cNvSpPr txBox="1"/>
          <p:nvPr/>
        </p:nvSpPr>
        <p:spPr>
          <a:xfrm>
            <a:off x="9555480" y="2423160"/>
            <a:ext cx="731520" cy="228600"/>
          </a:xfrm>
          <a:prstGeom prst="rect">
            <a:avLst/>
          </a:prstGeom>
          <a:noFill/>
        </p:spPr>
        <p:txBody>
          <a:bodyPr wrap="square" anchor="t" lIns="0" rIns="0" tIns="0" bIns="0">
            <a:spAutoFit/>
          </a:bodyPr>
          <a:lstStyle/>
          <a:p>
            <a:pPr algn="ctr"/>
            <a:r>
              <a:rPr sz="1100" b="1" i="1">
                <a:solidFill>
                  <a:srgbClr val="E0674F"/>
                </a:solidFill>
                <a:latin typeface="Calibri"/>
              </a:rPr>
              <a:t>M</a:t>
            </a:r>
          </a:p>
        </p:txBody>
      </p:sp>
      <p:sp>
        <p:nvSpPr>
          <p:cNvPr id="67" name="Att output"/>
          <p:cNvSpPr/>
          <p:nvPr/>
        </p:nvSpPr>
        <p:spPr>
          <a:xfrm>
            <a:off x="10561320" y="2441448"/>
            <a:ext cx="1078992" cy="786384"/>
          </a:xfrm>
          <a:prstGeom prst="roundRect">
            <a:avLst>
              <a:gd name="adj" fmla="val 12000"/>
            </a:avLst>
          </a:prstGeom>
          <a:solidFill>
            <a:srgbClr val="E067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Output F'</a:t>
            </a:r>
          </a:p>
          <a:p>
            <a:pPr algn="ctr"/>
            <a:r>
              <a:rPr sz="1000" b="0">
                <a:solidFill>
                  <a:srgbClr val="FFFFFF"/>
                </a:solidFill>
                <a:latin typeface="Calibri"/>
              </a:rPr>
              <a:t>H × W × C</a:t>
            </a:r>
          </a:p>
        </p:txBody>
      </p:sp>
      <p:sp>
        <p:nvSpPr>
          <p:cNvPr id="18" name="Arrow mul-out"/>
          <p:cNvSpPr/>
          <p:nvPr/>
        </p:nvSpPr>
        <p:spPr>
          <a:xfrm>
            <a:off x="10296144" y="2834640"/>
            <a:ext cx="265176" cy="0"/>
          </a:xfrm>
          <a:custGeom>
            <a:avLst/>
            <a:gdLst/>
            <a:ahLst/>
            <a:cxnLst/>
            <a:rect l="l" t="t" r="r" b="b"/>
            <a:pathLst>
              <a:path w="265176" h="0">
                <a:moveTo>
                  <a:pt x="0" y="0"/>
                </a:moveTo>
                <a:lnTo>
                  <a:pt x="265176"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rrow skip"/>
          <p:cNvSpPr/>
          <p:nvPr/>
        </p:nvSpPr>
        <p:spPr>
          <a:xfrm>
            <a:off x="1097280" y="3026664"/>
            <a:ext cx="9006840" cy="1289304"/>
          </a:xfrm>
          <a:custGeom>
            <a:avLst/>
            <a:gdLst/>
            <a:ahLst/>
            <a:cxnLst/>
            <a:rect l="l" t="t" r="r" b="b"/>
            <a:pathLst>
              <a:path w="9006840" h="1289304">
                <a:moveTo>
                  <a:pt x="0" y="201168"/>
                </a:moveTo>
                <a:lnTo>
                  <a:pt x="0" y="1289304"/>
                </a:lnTo>
                <a:lnTo>
                  <a:pt x="9006840" y="1289304"/>
                </a:lnTo>
                <a:lnTo>
                  <a:pt x="9006840" y="0"/>
                </a:lnTo>
              </a:path>
            </a:pathLst>
          </a:custGeom>
          <a:noFill/>
          <a:ln w="19050">
            <a:solidFill>
              <a:srgbClr val="5B6B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abel skip"/>
          <p:cNvSpPr txBox="1"/>
          <p:nvPr/>
        </p:nvSpPr>
        <p:spPr>
          <a:xfrm>
            <a:off x="7589520" y="4096512"/>
            <a:ext cx="2194560" cy="201168"/>
          </a:xfrm>
          <a:prstGeom prst="rect">
            <a:avLst/>
          </a:prstGeom>
          <a:noFill/>
        </p:spPr>
        <p:txBody>
          <a:bodyPr wrap="square" anchor="t" lIns="0" rIns="0" tIns="0" bIns="0">
            <a:spAutoFit/>
          </a:bodyPr>
          <a:lstStyle/>
          <a:p>
            <a:pPr algn="ctr"/>
            <a:r>
              <a:rPr sz="950" b="0" i="1">
                <a:solidFill>
                  <a:srgbClr val="5B6B7A"/>
                </a:solidFill>
                <a:latin typeface="Calibri"/>
              </a:rPr>
              <a:t>F (identity path)</a:t>
            </a:r>
          </a:p>
        </p:txBody>
      </p:sp>
      <p:sp>
        <p:nvSpPr>
          <p:cNvPr id="69" name="Panel desc"/>
          <p:cNvSpPr/>
          <p:nvPr/>
        </p:nvSpPr>
        <p:spPr>
          <a:xfrm>
            <a:off x="548640" y="4553712"/>
            <a:ext cx="7269480" cy="1737360"/>
          </a:xfrm>
          <a:prstGeom prst="roundRect">
            <a:avLst>
              <a:gd name="adj" fmla="val 6000"/>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anel desc title"/>
          <p:cNvSpPr txBox="1"/>
          <p:nvPr/>
        </p:nvSpPr>
        <p:spPr>
          <a:xfrm>
            <a:off x="731520" y="4663440"/>
            <a:ext cx="6903720" cy="274320"/>
          </a:xfrm>
          <a:prstGeom prst="rect">
            <a:avLst/>
          </a:prstGeom>
          <a:noFill/>
        </p:spPr>
        <p:txBody>
          <a:bodyPr wrap="square" anchor="t" lIns="0" rIns="0" tIns="0" bIns="0">
            <a:spAutoFit/>
          </a:bodyPr>
          <a:lstStyle/>
          <a:p>
            <a:pPr algn="l"/>
            <a:r>
              <a:rPr sz="1250" b="1" i="0">
                <a:solidFill>
                  <a:srgbClr val="10273A"/>
                </a:solidFill>
                <a:latin typeface="Calibri"/>
              </a:rPr>
              <a:t>How the block works</a:t>
            </a:r>
          </a:p>
        </p:txBody>
      </p:sp>
      <p:sp>
        <p:nvSpPr>
          <p:cNvPr id="71" name="Desc steps"/>
          <p:cNvSpPr txBox="1"/>
          <p:nvPr/>
        </p:nvSpPr>
        <p:spPr>
          <a:xfrm>
            <a:off x="731520" y="4974336"/>
            <a:ext cx="6903720" cy="1280160"/>
          </a:xfrm>
          <a:prstGeom prst="rect">
            <a:avLst/>
          </a:prstGeom>
          <a:noFill/>
        </p:spPr>
        <p:txBody>
          <a:bodyPr wrap="square" lIns="0" rIns="0" tIns="0" bIns="0">
            <a:spAutoFit/>
          </a:bodyPr>
          <a:lstStyle/>
          <a:p>
            <a:pPr>
              <a:spcAft>
                <a:spcPts val="300"/>
              </a:spcAft>
            </a:pPr>
            <a:r>
              <a:rPr b="1" sz="1100">
                <a:solidFill>
                  <a:srgbClr val="1B8A93"/>
                </a:solidFill>
                <a:latin typeface="Calibri"/>
              </a:rPr>
              <a:t>1. </a:t>
            </a:r>
            <a:r>
              <a:rPr b="1" sz="1100">
                <a:solidFill>
                  <a:srgbClr val="10273A"/>
                </a:solidFill>
                <a:latin typeface="Calibri"/>
              </a:rPr>
              <a:t>Three maps (each H × W × 1): </a:t>
            </a:r>
            <a:r>
              <a:rPr sz="1100">
                <a:solidFill>
                  <a:srgbClr val="1F2A37"/>
                </a:solidFill>
                <a:latin typeface="Calibri"/>
              </a:rPr>
              <a:t>a 1 × 1 convolution, max pooling across channels, and average pooling across channels (A).</a:t>
            </a:r>
          </a:p>
          <a:p>
            <a:pPr>
              <a:spcAft>
                <a:spcPts val="300"/>
              </a:spcAft>
            </a:pPr>
            <a:r>
              <a:rPr b="1" sz="1100">
                <a:solidFill>
                  <a:srgbClr val="1B8A93"/>
                </a:solidFill>
                <a:latin typeface="Calibri"/>
              </a:rPr>
              <a:t>2. </a:t>
            </a:r>
            <a:r>
              <a:rPr b="1" sz="1100">
                <a:solidFill>
                  <a:srgbClr val="10273A"/>
                </a:solidFill>
                <a:latin typeface="Calibri"/>
              </a:rPr>
              <a:t>Gating of A: </a:t>
            </a:r>
            <a:r>
              <a:rPr sz="1100">
                <a:solidFill>
                  <a:srgbClr val="1F2A37"/>
                </a:solidFill>
                <a:latin typeface="Calibri"/>
              </a:rPr>
              <a:t>A is reshaped to 1 × HW, passed through a sigmoid, and multiplied with A.</a:t>
            </a:r>
          </a:p>
          <a:p>
            <a:pPr>
              <a:spcAft>
                <a:spcPts val="300"/>
              </a:spcAft>
            </a:pPr>
            <a:r>
              <a:rPr b="1" sz="1100">
                <a:solidFill>
                  <a:srgbClr val="1B8A93"/>
                </a:solidFill>
                <a:latin typeface="Calibri"/>
              </a:rPr>
              <a:t>3. </a:t>
            </a:r>
            <a:r>
              <a:rPr b="1" sz="1100">
                <a:solidFill>
                  <a:srgbClr val="10273A"/>
                </a:solidFill>
                <a:latin typeface="Calibri"/>
              </a:rPr>
              <a:t>Attention map: </a:t>
            </a:r>
            <a:r>
              <a:rPr sz="1100">
                <a:solidFill>
                  <a:srgbClr val="1F2A37"/>
                </a:solidFill>
                <a:latin typeface="Calibri"/>
              </a:rPr>
              <a:t>the three maps are joined (H × W × 3); a 1 × 1 convolution and sigmoid give M, with values from 0 to 1.</a:t>
            </a:r>
          </a:p>
          <a:p>
            <a:pPr>
              <a:spcAft>
                <a:spcPts val="300"/>
              </a:spcAft>
            </a:pPr>
            <a:r>
              <a:rPr b="1" sz="1100">
                <a:solidFill>
                  <a:srgbClr val="1B8A93"/>
                </a:solidFill>
                <a:latin typeface="Calibri"/>
              </a:rPr>
              <a:t>4. </a:t>
            </a:r>
            <a:r>
              <a:rPr b="1" sz="1100">
                <a:solidFill>
                  <a:srgbClr val="10273A"/>
                </a:solidFill>
                <a:latin typeface="Calibri"/>
              </a:rPr>
              <a:t>Re-weighting: </a:t>
            </a:r>
            <a:r>
              <a:rPr sz="1100">
                <a:solidFill>
                  <a:srgbClr val="1F2A37"/>
                </a:solidFill>
                <a:latin typeface="Calibri"/>
              </a:rPr>
              <a:t>F is multiplied by M at each position, so lesion areas count more; the block adds only 1,029 parameters.</a:t>
            </a:r>
          </a:p>
        </p:txBody>
      </p:sp>
      <p:sp>
        <p:nvSpPr>
          <p:cNvPr id="72" name="Panel abbr"/>
          <p:cNvSpPr/>
          <p:nvPr/>
        </p:nvSpPr>
        <p:spPr>
          <a:xfrm>
            <a:off x="8046720" y="4553712"/>
            <a:ext cx="3593592" cy="1737360"/>
          </a:xfrm>
          <a:prstGeom prst="roundRect">
            <a:avLst>
              <a:gd name="adj" fmla="val 6000"/>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anel abbr title"/>
          <p:cNvSpPr txBox="1"/>
          <p:nvPr/>
        </p:nvSpPr>
        <p:spPr>
          <a:xfrm>
            <a:off x="8229600" y="4663440"/>
            <a:ext cx="3227832" cy="274320"/>
          </a:xfrm>
          <a:prstGeom prst="rect">
            <a:avLst/>
          </a:prstGeom>
          <a:noFill/>
        </p:spPr>
        <p:txBody>
          <a:bodyPr wrap="square" anchor="t" lIns="0" rIns="0" tIns="0" bIns="0">
            <a:spAutoFit/>
          </a:bodyPr>
          <a:lstStyle/>
          <a:p>
            <a:pPr algn="l"/>
            <a:r>
              <a:rPr sz="1250" b="1" i="0">
                <a:solidFill>
                  <a:srgbClr val="10273A"/>
                </a:solidFill>
                <a:latin typeface="Calibri"/>
              </a:rPr>
              <a:t>Abbreviations</a:t>
            </a:r>
          </a:p>
        </p:txBody>
      </p:sp>
      <p:sp>
        <p:nvSpPr>
          <p:cNvPr id="74" name="Abbr col1"/>
          <p:cNvSpPr txBox="1"/>
          <p:nvPr/>
        </p:nvSpPr>
        <p:spPr>
          <a:xfrm>
            <a:off x="8229600" y="4974336"/>
            <a:ext cx="1600200" cy="1280160"/>
          </a:xfrm>
          <a:prstGeom prst="rect">
            <a:avLst/>
          </a:prstGeom>
          <a:noFill/>
        </p:spPr>
        <p:txBody>
          <a:bodyPr wrap="square" lIns="0" rIns="0" tIns="0" bIns="0">
            <a:spAutoFit/>
          </a:bodyPr>
          <a:lstStyle/>
          <a:p>
            <a:pPr>
              <a:spcAft>
                <a:spcPts val="200"/>
              </a:spcAft>
            </a:pPr>
            <a:r>
              <a:rPr b="1" sz="950">
                <a:solidFill>
                  <a:srgbClr val="1B8A93"/>
                </a:solidFill>
                <a:latin typeface="Calibri"/>
              </a:rPr>
              <a:t>F: </a:t>
            </a:r>
            <a:r>
              <a:rPr sz="950">
                <a:solidFill>
                  <a:srgbClr val="1F2A37"/>
                </a:solidFill>
                <a:latin typeface="Calibri"/>
              </a:rPr>
              <a:t>Input feature map</a:t>
            </a:r>
          </a:p>
          <a:p>
            <a:pPr>
              <a:spcAft>
                <a:spcPts val="200"/>
              </a:spcAft>
            </a:pPr>
            <a:r>
              <a:rPr b="1" sz="950">
                <a:solidFill>
                  <a:srgbClr val="1B8A93"/>
                </a:solidFill>
                <a:latin typeface="Calibri"/>
              </a:rPr>
              <a:t>H, W, C: </a:t>
            </a:r>
            <a:r>
              <a:rPr sz="950">
                <a:solidFill>
                  <a:srgbClr val="1F2A37"/>
                </a:solidFill>
                <a:latin typeface="Calibri"/>
              </a:rPr>
              <a:t>Height, width, channels</a:t>
            </a:r>
          </a:p>
          <a:p>
            <a:pPr>
              <a:spcAft>
                <a:spcPts val="200"/>
              </a:spcAft>
            </a:pPr>
            <a:r>
              <a:rPr b="1" sz="950">
                <a:solidFill>
                  <a:srgbClr val="1B8A93"/>
                </a:solidFill>
                <a:latin typeface="Calibri"/>
              </a:rPr>
              <a:t>HW: </a:t>
            </a:r>
            <a:r>
              <a:rPr sz="950">
                <a:solidFill>
                  <a:srgbClr val="1F2A37"/>
                </a:solidFill>
                <a:latin typeface="Calibri"/>
              </a:rPr>
              <a:t>H × W positions</a:t>
            </a:r>
          </a:p>
          <a:p>
            <a:pPr>
              <a:spcAft>
                <a:spcPts val="200"/>
              </a:spcAft>
            </a:pPr>
            <a:r>
              <a:rPr b="1" sz="950">
                <a:solidFill>
                  <a:srgbClr val="1B8A93"/>
                </a:solidFill>
                <a:latin typeface="Calibri"/>
              </a:rPr>
              <a:t>M: </a:t>
            </a:r>
            <a:r>
              <a:rPr sz="950">
                <a:solidFill>
                  <a:srgbClr val="1F2A37"/>
                </a:solidFill>
                <a:latin typeface="Calibri"/>
              </a:rPr>
              <a:t>Spatial attention map</a:t>
            </a:r>
          </a:p>
          <a:p>
            <a:pPr>
              <a:spcAft>
                <a:spcPts val="200"/>
              </a:spcAft>
            </a:pPr>
            <a:r>
              <a:rPr b="1" sz="950">
                <a:solidFill>
                  <a:srgbClr val="1B8A93"/>
                </a:solidFill>
                <a:latin typeface="Calibri"/>
              </a:rPr>
              <a:t>F': </a:t>
            </a:r>
            <a:r>
              <a:rPr sz="950">
                <a:solidFill>
                  <a:srgbClr val="1F2A37"/>
                </a:solidFill>
                <a:latin typeface="Calibri"/>
              </a:rPr>
              <a:t>Refined feature map</a:t>
            </a:r>
          </a:p>
        </p:txBody>
      </p:sp>
      <p:sp>
        <p:nvSpPr>
          <p:cNvPr id="75" name="Abbr col2"/>
          <p:cNvSpPr txBox="1"/>
          <p:nvPr/>
        </p:nvSpPr>
        <p:spPr>
          <a:xfrm>
            <a:off x="9921240" y="4974336"/>
            <a:ext cx="1600200" cy="1280160"/>
          </a:xfrm>
          <a:prstGeom prst="rect">
            <a:avLst/>
          </a:prstGeom>
          <a:noFill/>
        </p:spPr>
        <p:txBody>
          <a:bodyPr wrap="square" lIns="0" rIns="0" tIns="0" bIns="0">
            <a:spAutoFit/>
          </a:bodyPr>
          <a:lstStyle/>
          <a:p>
            <a:pPr>
              <a:spcAft>
                <a:spcPts val="200"/>
              </a:spcAft>
            </a:pPr>
            <a:r>
              <a:rPr b="1" sz="950">
                <a:solidFill>
                  <a:srgbClr val="1B8A93"/>
                </a:solidFill>
                <a:latin typeface="Calibri"/>
              </a:rPr>
              <a:t>Conv: </a:t>
            </a:r>
            <a:r>
              <a:rPr sz="950">
                <a:solidFill>
                  <a:srgbClr val="1F2A37"/>
                </a:solidFill>
                <a:latin typeface="Calibri"/>
              </a:rPr>
              <a:t>Convolution</a:t>
            </a:r>
          </a:p>
          <a:p>
            <a:pPr>
              <a:spcAft>
                <a:spcPts val="200"/>
              </a:spcAft>
            </a:pPr>
            <a:r>
              <a:rPr b="1" sz="950">
                <a:solidFill>
                  <a:srgbClr val="1B8A93"/>
                </a:solidFill>
                <a:latin typeface="Calibri"/>
              </a:rPr>
              <a:t>×: </a:t>
            </a:r>
            <a:r>
              <a:rPr sz="950">
                <a:solidFill>
                  <a:srgbClr val="1F2A37"/>
                </a:solidFill>
                <a:latin typeface="Calibri"/>
              </a:rPr>
              <a:t>Element-wise product</a:t>
            </a:r>
          </a:p>
          <a:p>
            <a:pPr>
              <a:spcAft>
                <a:spcPts val="200"/>
              </a:spcAft>
            </a:pPr>
            <a:r>
              <a:rPr b="1" sz="950">
                <a:solidFill>
                  <a:srgbClr val="1B8A93"/>
                </a:solidFill>
                <a:latin typeface="Calibri"/>
              </a:rPr>
              <a:t>SE: </a:t>
            </a:r>
            <a:r>
              <a:rPr sz="950">
                <a:solidFill>
                  <a:srgbClr val="1F2A37"/>
                </a:solidFill>
                <a:latin typeface="Calibri"/>
              </a:rPr>
              <a:t>Squeeze-and-Excitation</a:t>
            </a:r>
          </a:p>
          <a:p>
            <a:pPr>
              <a:spcAft>
                <a:spcPts val="200"/>
              </a:spcAft>
            </a:pPr>
            <a:r>
              <a:rPr b="1" sz="950">
                <a:solidFill>
                  <a:srgbClr val="1B8A93"/>
                </a:solidFill>
                <a:latin typeface="Calibri"/>
              </a:rPr>
              <a:t>CBAM: </a:t>
            </a:r>
            <a:r>
              <a:rPr sz="950">
                <a:solidFill>
                  <a:srgbClr val="1F2A37"/>
                </a:solidFill>
                <a:latin typeface="Calibri"/>
              </a:rPr>
              <a:t>Convolutional Block Attention Module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Design &amp; Methodology: Experimental Design</a:t>
            </a:r>
            <a:endParaRPr lang="en-US" sz="3400" dirty="0"/>
          </a:p>
        </p:txBody>
      </p:sp>
      <p:sp>
        <p:nvSpPr>
          <p:cNvPr id="3" name="Shape 1"/>
          <p:cNvSpPr/>
          <p:nvPr/>
        </p:nvSpPr>
        <p:spPr>
          <a:xfrm>
            <a:off x="548640" y="1554480"/>
            <a:ext cx="5468112" cy="2103120"/>
          </a:xfrm>
          <a:prstGeom prst="roundRect">
            <a:avLst>
              <a:gd name="adj" fmla="val 5217"/>
            </a:avLst>
          </a:prstGeom>
          <a:solidFill>
            <a:srgbClr val="F1F6F8"/>
          </a:solidFill>
          <a:ln w="12700">
            <a:solidFill>
              <a:srgbClr val="F1F6F8"/>
            </a:solidFill>
            <a:prstDash val="solid"/>
          </a:ln>
        </p:spPr>
      </p:sp>
      <p:sp>
        <p:nvSpPr>
          <p:cNvPr id="4" name="Shape 2"/>
          <p:cNvSpPr/>
          <p:nvPr/>
        </p:nvSpPr>
        <p:spPr>
          <a:xfrm>
            <a:off x="777240" y="1737360"/>
            <a:ext cx="502920" cy="502920"/>
          </a:xfrm>
          <a:prstGeom prst="ellipse">
            <a:avLst/>
          </a:prstGeom>
          <a:solidFill>
            <a:srgbClr val="1B8A93"/>
          </a:solidFill>
          <a:ln w="12700">
            <a:solidFill>
              <a:srgbClr val="1B8A93"/>
            </a:solidFill>
            <a:prstDash val="solid"/>
          </a:ln>
        </p:spPr>
      </p:sp>
      <p:pic>
        <p:nvPicPr>
          <p:cNvPr id="5" name="Image 0" descr="preencoded.png">    </p:cNvPr>
          <p:cNvPicPr>
            <a:picLocks noChangeAspect="1"/>
          </p:cNvPicPr>
          <p:nvPr/>
        </p:nvPicPr>
        <p:blipFill>
          <a:blip r:embed="rId1"/>
          <a:stretch>
            <a:fillRect/>
          </a:stretch>
        </p:blipFill>
        <p:spPr>
          <a:xfrm>
            <a:off x="913028" y="1873148"/>
            <a:ext cx="231343" cy="231343"/>
          </a:xfrm>
          <a:prstGeom prst="rect">
            <a:avLst/>
          </a:prstGeom>
        </p:spPr>
      </p:pic>
      <p:sp>
        <p:nvSpPr>
          <p:cNvPr id="6" name="Text 3"/>
          <p:cNvSpPr txBox="1"/>
          <p:nvPr/>
        </p:nvSpPr>
        <p:spPr>
          <a:xfrm>
            <a:off x="1463040" y="1737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Ablation study (2 x 2)</a:t>
            </a:r>
            <a:endParaRPr lang="en-US" sz="1800" dirty="0"/>
          </a:p>
        </p:txBody>
      </p:sp>
      <p:sp>
        <p:nvSpPr>
          <p:cNvPr id="7" name="Text 4"/>
          <p:cNvSpPr txBox="1"/>
          <p:nvPr/>
        </p:nvSpPr>
        <p:spPr>
          <a:xfrm>
            <a:off x="822960" y="2377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Baseline: DenseNet121, image only</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Adds attention, clinical data, then both</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Shows what each part adds</a:t>
            </a:r>
            <a:endParaRPr lang="en-US" sz="1450" dirty="0"/>
          </a:p>
        </p:txBody>
      </p:sp>
      <p:sp>
        <p:nvSpPr>
          <p:cNvPr id="8" name="Shape 5"/>
          <p:cNvSpPr/>
          <p:nvPr/>
        </p:nvSpPr>
        <p:spPr>
          <a:xfrm>
            <a:off x="6172200" y="1554480"/>
            <a:ext cx="5468112" cy="2103120"/>
          </a:xfrm>
          <a:prstGeom prst="roundRect">
            <a:avLst>
              <a:gd name="adj" fmla="val 5217"/>
            </a:avLst>
          </a:prstGeom>
          <a:solidFill>
            <a:srgbClr val="F1F6F8"/>
          </a:solidFill>
          <a:ln w="12700">
            <a:solidFill>
              <a:srgbClr val="F1F6F8"/>
            </a:solidFill>
            <a:prstDash val="solid"/>
          </a:ln>
        </p:spPr>
      </p:sp>
      <p:sp>
        <p:nvSpPr>
          <p:cNvPr id="9" name="Shape 6"/>
          <p:cNvSpPr/>
          <p:nvPr/>
        </p:nvSpPr>
        <p:spPr>
          <a:xfrm>
            <a:off x="6400800" y="1737360"/>
            <a:ext cx="502920" cy="502920"/>
          </a:xfrm>
          <a:prstGeom prst="ellipse">
            <a:avLst/>
          </a:prstGeom>
          <a:solidFill>
            <a:srgbClr val="E0674F"/>
          </a:solidFill>
          <a:ln w="12700">
            <a:solidFill>
              <a:srgbClr val="E0674F"/>
            </a:solidFill>
            <a:prstDash val="solid"/>
          </a:ln>
        </p:spPr>
      </p:sp>
      <p:pic>
        <p:nvPicPr>
          <p:cNvPr id="10" name="Image 1" descr="preencoded.png">    </p:cNvPr>
          <p:cNvPicPr>
            <a:picLocks noChangeAspect="1"/>
          </p:cNvPicPr>
          <p:nvPr/>
        </p:nvPicPr>
        <p:blipFill>
          <a:blip r:embed="rId2"/>
          <a:stretch>
            <a:fillRect/>
          </a:stretch>
        </p:blipFill>
        <p:spPr>
          <a:xfrm>
            <a:off x="6536588" y="1873148"/>
            <a:ext cx="231343" cy="231343"/>
          </a:xfrm>
          <a:prstGeom prst="rect">
            <a:avLst/>
          </a:prstGeom>
        </p:spPr>
      </p:pic>
      <p:sp>
        <p:nvSpPr>
          <p:cNvPr id="11" name="Text 7"/>
          <p:cNvSpPr txBox="1"/>
          <p:nvPr/>
        </p:nvSpPr>
        <p:spPr>
          <a:xfrm>
            <a:off x="7086600" y="1737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Comparison of attention modules</a:t>
            </a:r>
            <a:endParaRPr lang="en-US" sz="1800" dirty="0"/>
          </a:p>
        </p:txBody>
      </p:sp>
      <p:sp>
        <p:nvSpPr>
          <p:cNvPr id="12" name="Text 8"/>
          <p:cNvSpPr txBox="1"/>
          <p:nvPr/>
        </p:nvSpPr>
        <p:spPr>
          <a:xfrm>
            <a:off x="6446520" y="2377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Fixed DenseNet121 backbone and clinical MLP</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None vs SE vs CBAM vs proposed module</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Accuracy compared with added parameters</a:t>
            </a:r>
            <a:endParaRPr lang="en-US" sz="1450" dirty="0"/>
          </a:p>
        </p:txBody>
      </p:sp>
      <p:sp>
        <p:nvSpPr>
          <p:cNvPr id="13" name="Shape 9"/>
          <p:cNvSpPr/>
          <p:nvPr/>
        </p:nvSpPr>
        <p:spPr>
          <a:xfrm>
            <a:off x="548640" y="3840480"/>
            <a:ext cx="5468112" cy="2103120"/>
          </a:xfrm>
          <a:prstGeom prst="roundRect">
            <a:avLst>
              <a:gd name="adj" fmla="val 5217"/>
            </a:avLst>
          </a:prstGeom>
          <a:solidFill>
            <a:srgbClr val="F1F6F8"/>
          </a:solidFill>
          <a:ln w="12700">
            <a:solidFill>
              <a:srgbClr val="F1F6F8"/>
            </a:solidFill>
            <a:prstDash val="solid"/>
          </a:ln>
        </p:spPr>
      </p:sp>
      <p:sp>
        <p:nvSpPr>
          <p:cNvPr id="14" name="Shape 10"/>
          <p:cNvSpPr/>
          <p:nvPr/>
        </p:nvSpPr>
        <p:spPr>
          <a:xfrm>
            <a:off x="777240" y="4023360"/>
            <a:ext cx="502920" cy="502920"/>
          </a:xfrm>
          <a:prstGeom prst="ellipse">
            <a:avLst/>
          </a:prstGeom>
          <a:solidFill>
            <a:srgbClr val="1B8A93"/>
          </a:solidFill>
          <a:ln w="12700">
            <a:solidFill>
              <a:srgbClr val="1B8A93"/>
            </a:solidFill>
            <a:prstDash val="solid"/>
          </a:ln>
        </p:spPr>
      </p:sp>
      <p:pic>
        <p:nvPicPr>
          <p:cNvPr id="15" name="Image 2" descr="preencoded.png">    </p:cNvPr>
          <p:cNvPicPr>
            <a:picLocks noChangeAspect="1"/>
          </p:cNvPicPr>
          <p:nvPr/>
        </p:nvPicPr>
        <p:blipFill>
          <a:blip r:embed="rId3"/>
          <a:stretch>
            <a:fillRect/>
          </a:stretch>
        </p:blipFill>
        <p:spPr>
          <a:xfrm>
            <a:off x="913028" y="4159148"/>
            <a:ext cx="231343" cy="231343"/>
          </a:xfrm>
          <a:prstGeom prst="rect">
            <a:avLst/>
          </a:prstGeom>
        </p:spPr>
      </p:pic>
      <p:sp>
        <p:nvSpPr>
          <p:cNvPr id="16" name="Text 11"/>
          <p:cNvSpPr txBox="1"/>
          <p:nvPr/>
        </p:nvSpPr>
        <p:spPr>
          <a:xfrm>
            <a:off x="1463040" y="4023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Statistical robustness</a:t>
            </a:r>
            <a:endParaRPr lang="en-US" sz="1800" dirty="0"/>
          </a:p>
        </p:txBody>
      </p:sp>
      <p:sp>
        <p:nvSpPr>
          <p:cNvPr id="17" name="Text 12"/>
          <p:cNvSpPr txBox="1"/>
          <p:nvPr/>
        </p:nvSpPr>
        <p:spPr>
          <a:xfrm>
            <a:off x="822960" y="4663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Key models trained with three random seeds</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Results reported as mean ± standard deviation</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McNemar's test to check if gains are real</a:t>
            </a:r>
            <a:endParaRPr lang="en-US" sz="1450" dirty="0"/>
          </a:p>
        </p:txBody>
      </p:sp>
      <p:sp>
        <p:nvSpPr>
          <p:cNvPr id="18" name="Shape 13"/>
          <p:cNvSpPr/>
          <p:nvPr/>
        </p:nvSpPr>
        <p:spPr>
          <a:xfrm>
            <a:off x="6172200" y="3840480"/>
            <a:ext cx="5468112" cy="2103120"/>
          </a:xfrm>
          <a:prstGeom prst="roundRect">
            <a:avLst>
              <a:gd name="adj" fmla="val 5217"/>
            </a:avLst>
          </a:prstGeom>
          <a:solidFill>
            <a:srgbClr val="F1F6F8"/>
          </a:solidFill>
          <a:ln w="12700">
            <a:solidFill>
              <a:srgbClr val="F1F6F8"/>
            </a:solidFill>
            <a:prstDash val="solid"/>
          </a:ln>
        </p:spPr>
      </p:sp>
      <p:sp>
        <p:nvSpPr>
          <p:cNvPr id="19" name="Shape 14"/>
          <p:cNvSpPr/>
          <p:nvPr/>
        </p:nvSpPr>
        <p:spPr>
          <a:xfrm>
            <a:off x="6400800" y="4023360"/>
            <a:ext cx="502920" cy="502920"/>
          </a:xfrm>
          <a:prstGeom prst="ellipse">
            <a:avLst/>
          </a:prstGeom>
          <a:solidFill>
            <a:srgbClr val="1B8A93"/>
          </a:solidFill>
          <a:ln w="12700">
            <a:solidFill>
              <a:srgbClr val="1B8A93"/>
            </a:solidFill>
            <a:prstDash val="solid"/>
          </a:ln>
        </p:spPr>
      </p:sp>
      <p:pic>
        <p:nvPicPr>
          <p:cNvPr id="20" name="Image 3" descr="preencoded.png">    </p:cNvPr>
          <p:cNvPicPr>
            <a:picLocks noChangeAspect="1"/>
          </p:cNvPicPr>
          <p:nvPr/>
        </p:nvPicPr>
        <p:blipFill>
          <a:blip r:embed="rId4"/>
          <a:stretch>
            <a:fillRect/>
          </a:stretch>
        </p:blipFill>
        <p:spPr>
          <a:xfrm>
            <a:off x="6536588" y="4159148"/>
            <a:ext cx="231343" cy="231343"/>
          </a:xfrm>
          <a:prstGeom prst="rect">
            <a:avLst/>
          </a:prstGeom>
        </p:spPr>
      </p:pic>
      <p:sp>
        <p:nvSpPr>
          <p:cNvPr id="21" name="Text 15"/>
          <p:cNvSpPr txBox="1"/>
          <p:nvPr/>
        </p:nvSpPr>
        <p:spPr>
          <a:xfrm>
            <a:off x="7086600" y="4023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Evaluation metrics</a:t>
            </a:r>
            <a:endParaRPr lang="en-US" sz="1800" dirty="0"/>
          </a:p>
        </p:txBody>
      </p:sp>
      <p:sp>
        <p:nvSpPr>
          <p:cNvPr id="22" name="Text 16"/>
          <p:cNvSpPr txBox="1"/>
          <p:nvPr/>
        </p:nvSpPr>
        <p:spPr>
          <a:xfrm>
            <a:off x="6446520" y="4663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Balanced accuracy, macro F1-score, macro AUC</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Melanoma sensitivity and specificity</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ROC curves; attention maps and Grad-CAM</a:t>
            </a:r>
            <a:endParaRPr lang="en-US" sz="1450" dirty="0"/>
          </a:p>
        </p:txBody>
      </p:sp>
      <p:sp>
        <p:nvSpPr>
          <p:cNvPr id="23"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24" name="Text 18"/>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Implementation &amp; Technical Details</a:t>
            </a:r>
            <a:endParaRPr lang="en-US" sz="3400" dirty="0"/>
          </a:p>
        </p:txBody>
      </p:sp>
      <p:sp>
        <p:nvSpPr>
          <p:cNvPr id="3" name="Shape 1"/>
          <p:cNvSpPr/>
          <p:nvPr/>
        </p:nvSpPr>
        <p:spPr>
          <a:xfrm>
            <a:off x="548640" y="1554480"/>
            <a:ext cx="5468112" cy="2103120"/>
          </a:xfrm>
          <a:prstGeom prst="roundRect">
            <a:avLst>
              <a:gd name="adj" fmla="val 5217"/>
            </a:avLst>
          </a:prstGeom>
          <a:solidFill>
            <a:srgbClr val="F1F6F8"/>
          </a:solidFill>
          <a:ln w="12700">
            <a:solidFill>
              <a:srgbClr val="F1F6F8"/>
            </a:solidFill>
            <a:prstDash val="solid"/>
          </a:ln>
        </p:spPr>
      </p:sp>
      <p:sp>
        <p:nvSpPr>
          <p:cNvPr id="4" name="Shape 2"/>
          <p:cNvSpPr/>
          <p:nvPr/>
        </p:nvSpPr>
        <p:spPr>
          <a:xfrm>
            <a:off x="777240" y="1737360"/>
            <a:ext cx="502920" cy="502920"/>
          </a:xfrm>
          <a:prstGeom prst="ellipse">
            <a:avLst/>
          </a:prstGeom>
          <a:solidFill>
            <a:srgbClr val="1B8A93"/>
          </a:solidFill>
          <a:ln w="12700">
            <a:solidFill>
              <a:srgbClr val="1B8A93"/>
            </a:solidFill>
            <a:prstDash val="solid"/>
          </a:ln>
        </p:spPr>
      </p:sp>
      <p:pic>
        <p:nvPicPr>
          <p:cNvPr id="5" name="Image 0" descr="preencoded.png">    </p:cNvPr>
          <p:cNvPicPr>
            <a:picLocks noChangeAspect="1"/>
          </p:cNvPicPr>
          <p:nvPr/>
        </p:nvPicPr>
        <p:blipFill>
          <a:blip r:embed="rId1"/>
          <a:stretch>
            <a:fillRect/>
          </a:stretch>
        </p:blipFill>
        <p:spPr>
          <a:xfrm>
            <a:off x="913028" y="1873148"/>
            <a:ext cx="231343" cy="231343"/>
          </a:xfrm>
          <a:prstGeom prst="rect">
            <a:avLst/>
          </a:prstGeom>
        </p:spPr>
      </p:pic>
      <p:sp>
        <p:nvSpPr>
          <p:cNvPr id="6" name="Text 3"/>
          <p:cNvSpPr txBox="1"/>
          <p:nvPr/>
        </p:nvSpPr>
        <p:spPr>
          <a:xfrm>
            <a:off x="1463040" y="1737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Image branch</a:t>
            </a:r>
            <a:endParaRPr lang="en-US" sz="1800" dirty="0"/>
          </a:p>
        </p:txBody>
      </p:sp>
      <p:sp>
        <p:nvSpPr>
          <p:cNvPr id="7" name="Text 4"/>
          <p:cNvSpPr txBox="1"/>
          <p:nvPr/>
        </p:nvSpPr>
        <p:spPr>
          <a:xfrm>
            <a:off x="822960" y="2377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ImageNet-pretrained DenseNet121: 7 × 7 × 1024 output</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Spatial attention module, global average pooling</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1024-value output; BatchNorm kept fixed</a:t>
            </a:r>
            <a:endParaRPr lang="en-US" sz="1450" dirty="0"/>
          </a:p>
        </p:txBody>
      </p:sp>
      <p:sp>
        <p:nvSpPr>
          <p:cNvPr id="8" name="Shape 5"/>
          <p:cNvSpPr/>
          <p:nvPr/>
        </p:nvSpPr>
        <p:spPr>
          <a:xfrm>
            <a:off x="6172200" y="1554480"/>
            <a:ext cx="5468112" cy="2103120"/>
          </a:xfrm>
          <a:prstGeom prst="roundRect">
            <a:avLst>
              <a:gd name="adj" fmla="val 5217"/>
            </a:avLst>
          </a:prstGeom>
          <a:solidFill>
            <a:srgbClr val="F1F6F8"/>
          </a:solidFill>
          <a:ln w="12700">
            <a:solidFill>
              <a:srgbClr val="F1F6F8"/>
            </a:solidFill>
            <a:prstDash val="solid"/>
          </a:ln>
        </p:spPr>
      </p:sp>
      <p:sp>
        <p:nvSpPr>
          <p:cNvPr id="9" name="Shape 6"/>
          <p:cNvSpPr/>
          <p:nvPr/>
        </p:nvSpPr>
        <p:spPr>
          <a:xfrm>
            <a:off x="6400800" y="1737360"/>
            <a:ext cx="502920" cy="502920"/>
          </a:xfrm>
          <a:prstGeom prst="ellipse">
            <a:avLst/>
          </a:prstGeom>
          <a:solidFill>
            <a:srgbClr val="E0674F"/>
          </a:solidFill>
          <a:ln w="12700">
            <a:solidFill>
              <a:srgbClr val="E0674F"/>
            </a:solidFill>
            <a:prstDash val="solid"/>
          </a:ln>
        </p:spPr>
      </p:sp>
      <p:pic>
        <p:nvPicPr>
          <p:cNvPr id="10" name="Image 1" descr="preencoded.png">    </p:cNvPr>
          <p:cNvPicPr>
            <a:picLocks noChangeAspect="1"/>
          </p:cNvPicPr>
          <p:nvPr/>
        </p:nvPicPr>
        <p:blipFill>
          <a:blip r:embed="rId2"/>
          <a:stretch>
            <a:fillRect/>
          </a:stretch>
        </p:blipFill>
        <p:spPr>
          <a:xfrm>
            <a:off x="6536588" y="1873148"/>
            <a:ext cx="231343" cy="231343"/>
          </a:xfrm>
          <a:prstGeom prst="rect">
            <a:avLst/>
          </a:prstGeom>
        </p:spPr>
      </p:pic>
      <p:sp>
        <p:nvSpPr>
          <p:cNvPr id="11" name="Text 7"/>
          <p:cNvSpPr txBox="1"/>
          <p:nvPr/>
        </p:nvSpPr>
        <p:spPr>
          <a:xfrm>
            <a:off x="7086600" y="1737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Clinical branch</a:t>
            </a:r>
            <a:endParaRPr lang="en-US" sz="1800" dirty="0"/>
          </a:p>
        </p:txBody>
      </p:sp>
      <p:sp>
        <p:nvSpPr>
          <p:cNvPr id="12" name="Text 8"/>
          <p:cNvSpPr txBox="1"/>
          <p:nvPr/>
        </p:nvSpPr>
        <p:spPr>
          <a:xfrm>
            <a:off x="6446520" y="2377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Inputs: standardised age, one-hot sex and site</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FC(128), BN, ReLU, dropout, FC(64)</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dx type removed, as it reveals the label</a:t>
            </a:r>
            <a:endParaRPr lang="en-US" sz="1450" dirty="0"/>
          </a:p>
        </p:txBody>
      </p:sp>
      <p:sp>
        <p:nvSpPr>
          <p:cNvPr id="13" name="Shape 9"/>
          <p:cNvSpPr/>
          <p:nvPr/>
        </p:nvSpPr>
        <p:spPr>
          <a:xfrm>
            <a:off x="548640" y="3840480"/>
            <a:ext cx="5468112" cy="2103120"/>
          </a:xfrm>
          <a:prstGeom prst="roundRect">
            <a:avLst>
              <a:gd name="adj" fmla="val 5217"/>
            </a:avLst>
          </a:prstGeom>
          <a:solidFill>
            <a:srgbClr val="F1F6F8"/>
          </a:solidFill>
          <a:ln w="12700">
            <a:solidFill>
              <a:srgbClr val="F1F6F8"/>
            </a:solidFill>
            <a:prstDash val="solid"/>
          </a:ln>
        </p:spPr>
      </p:sp>
      <p:sp>
        <p:nvSpPr>
          <p:cNvPr id="14" name="Shape 10"/>
          <p:cNvSpPr/>
          <p:nvPr/>
        </p:nvSpPr>
        <p:spPr>
          <a:xfrm>
            <a:off x="777240" y="4023360"/>
            <a:ext cx="502920" cy="502920"/>
          </a:xfrm>
          <a:prstGeom prst="ellipse">
            <a:avLst/>
          </a:prstGeom>
          <a:solidFill>
            <a:srgbClr val="1B8A93"/>
          </a:solidFill>
          <a:ln w="12700">
            <a:solidFill>
              <a:srgbClr val="1B8A93"/>
            </a:solidFill>
            <a:prstDash val="solid"/>
          </a:ln>
        </p:spPr>
      </p:sp>
      <p:pic>
        <p:nvPicPr>
          <p:cNvPr id="15" name="Image 2" descr="preencoded.png">    </p:cNvPr>
          <p:cNvPicPr>
            <a:picLocks noChangeAspect="1"/>
          </p:cNvPicPr>
          <p:nvPr/>
        </p:nvPicPr>
        <p:blipFill>
          <a:blip r:embed="rId3"/>
          <a:stretch>
            <a:fillRect/>
          </a:stretch>
        </p:blipFill>
        <p:spPr>
          <a:xfrm>
            <a:off x="913028" y="4159148"/>
            <a:ext cx="231343" cy="231343"/>
          </a:xfrm>
          <a:prstGeom prst="rect">
            <a:avLst/>
          </a:prstGeom>
        </p:spPr>
      </p:pic>
      <p:sp>
        <p:nvSpPr>
          <p:cNvPr id="16" name="Text 11"/>
          <p:cNvSpPr txBox="1"/>
          <p:nvPr/>
        </p:nvSpPr>
        <p:spPr>
          <a:xfrm>
            <a:off x="1463040" y="4023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Training protocol</a:t>
            </a:r>
            <a:endParaRPr lang="en-US" sz="1800" dirty="0"/>
          </a:p>
        </p:txBody>
      </p:sp>
      <p:sp>
        <p:nvSpPr>
          <p:cNvPr id="17" name="Text 12"/>
          <p:cNvSpPr txBox="1"/>
          <p:nvPr/>
        </p:nvSpPr>
        <p:spPr>
          <a:xfrm>
            <a:off x="822960" y="4663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Stage 1: frozen backbone, Adam (lr 1e-3), 5 epochs</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Stage 2: last 150 layers fine-tuned, lr 1e-4</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Label smoothing, early stopping, mixed precision</a:t>
            </a:r>
            <a:endParaRPr lang="en-US" sz="1450" dirty="0"/>
          </a:p>
        </p:txBody>
      </p:sp>
      <p:sp>
        <p:nvSpPr>
          <p:cNvPr id="18" name="Shape 13"/>
          <p:cNvSpPr/>
          <p:nvPr/>
        </p:nvSpPr>
        <p:spPr>
          <a:xfrm>
            <a:off x="6172200" y="3840480"/>
            <a:ext cx="5468112" cy="2103120"/>
          </a:xfrm>
          <a:prstGeom prst="roundRect">
            <a:avLst>
              <a:gd name="adj" fmla="val 5217"/>
            </a:avLst>
          </a:prstGeom>
          <a:solidFill>
            <a:srgbClr val="F1F6F8"/>
          </a:solidFill>
          <a:ln w="12700">
            <a:solidFill>
              <a:srgbClr val="F1F6F8"/>
            </a:solidFill>
            <a:prstDash val="solid"/>
          </a:ln>
        </p:spPr>
      </p:sp>
      <p:sp>
        <p:nvSpPr>
          <p:cNvPr id="19" name="Shape 14"/>
          <p:cNvSpPr/>
          <p:nvPr/>
        </p:nvSpPr>
        <p:spPr>
          <a:xfrm>
            <a:off x="6400800" y="4023360"/>
            <a:ext cx="502920" cy="502920"/>
          </a:xfrm>
          <a:prstGeom prst="ellipse">
            <a:avLst/>
          </a:prstGeom>
          <a:solidFill>
            <a:srgbClr val="1B8A93"/>
          </a:solidFill>
          <a:ln w="12700">
            <a:solidFill>
              <a:srgbClr val="1B8A93"/>
            </a:solidFill>
            <a:prstDash val="solid"/>
          </a:ln>
        </p:spPr>
      </p:sp>
      <p:pic>
        <p:nvPicPr>
          <p:cNvPr id="20" name="Image 3" descr="preencoded.png">    </p:cNvPr>
          <p:cNvPicPr>
            <a:picLocks noChangeAspect="1"/>
          </p:cNvPicPr>
          <p:nvPr/>
        </p:nvPicPr>
        <p:blipFill>
          <a:blip r:embed="rId4"/>
          <a:stretch>
            <a:fillRect/>
          </a:stretch>
        </p:blipFill>
        <p:spPr>
          <a:xfrm>
            <a:off x="6536588" y="4159148"/>
            <a:ext cx="231343" cy="231343"/>
          </a:xfrm>
          <a:prstGeom prst="rect">
            <a:avLst/>
          </a:prstGeom>
        </p:spPr>
      </p:pic>
      <p:sp>
        <p:nvSpPr>
          <p:cNvPr id="21" name="Text 15"/>
          <p:cNvSpPr txBox="1"/>
          <p:nvPr/>
        </p:nvSpPr>
        <p:spPr>
          <a:xfrm>
            <a:off x="7086600" y="4023360"/>
            <a:ext cx="4389120" cy="50292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Software and hardware</a:t>
            </a:r>
            <a:endParaRPr lang="en-US" sz="1800" dirty="0"/>
          </a:p>
        </p:txBody>
      </p:sp>
      <p:sp>
        <p:nvSpPr>
          <p:cNvPr id="22" name="Text 16"/>
          <p:cNvSpPr txBox="1"/>
          <p:nvPr/>
        </p:nvSpPr>
        <p:spPr>
          <a:xfrm>
            <a:off x="6446520" y="46634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TensorFlow 2.10 (Keras), scikit-learn, pandas</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tf.data input pipeline; Grad-CAM implementation</a:t>
            </a:r>
            <a:endParaRPr lang="en-US" sz="1450" dirty="0"/>
          </a:p>
          <a:p>
            <a:pPr marL="342900" indent="-342900">
              <a:spcAft>
                <a:spcPts val="500"/>
              </a:spcAft>
              <a:buSzPct val="100000"/>
              <a:buChar char="•"/>
            </a:pPr>
            <a:r>
              <a:rPr lang="en-US" sz="1450" dirty="0">
                <a:solidFill>
                  <a:srgbClr val="1F2A37"/>
                </a:solidFill>
                <a:latin typeface="Calibri" pitchFamily="34" charset="0"/>
                <a:ea typeface="Calibri" pitchFamily="34" charset="-122"/>
                <a:cs typeface="Calibri" pitchFamily="34" charset="-120"/>
              </a:rPr>
              <a:t>NVIDIA RTX 3050 (6 GB), batch size 16</a:t>
            </a:r>
            <a:endParaRPr lang="en-US" sz="1450" dirty="0"/>
          </a:p>
        </p:txBody>
      </p:sp>
      <p:sp>
        <p:nvSpPr>
          <p:cNvPr id="23"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24" name="Text 18"/>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0273A"/>
                </a:solidFill>
                <a:latin typeface="Cambria" pitchFamily="34" charset="0"/>
                <a:ea typeface="Cambria" pitchFamily="34" charset="-122"/>
                <a:cs typeface="Cambria" pitchFamily="34" charset="-120"/>
              </a:rPr>
              <a:t>Results (Preliminary)</a:t>
            </a:r>
            <a:endParaRPr lang="en-US" sz="34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Clinical data only (MLP) | 1,481 test images | macro average over 7 classes</a:t>
            </a:r>
            <a:endParaRPr lang="en-US" sz="1600" dirty="0"/>
          </a:p>
        </p:txBody>
      </p:sp>
      <p:sp>
        <p:nvSpPr>
          <p:cNvPr id="4" name="Shape 2"/>
          <p:cNvSpPr/>
          <p:nvPr/>
        </p:nvSpPr>
        <p:spPr>
          <a:xfrm>
            <a:off x="548640" y="1828800"/>
            <a:ext cx="2743200" cy="1874520"/>
          </a:xfrm>
          <a:prstGeom prst="roundRect">
            <a:avLst>
              <a:gd name="adj" fmla="val 5854"/>
            </a:avLst>
          </a:prstGeom>
          <a:solidFill>
            <a:srgbClr val="F1F6F8"/>
          </a:solidFill>
          <a:ln w="12700">
            <a:solidFill>
              <a:srgbClr val="F1F6F8"/>
            </a:solidFill>
            <a:prstDash val="solid"/>
          </a:ln>
        </p:spPr>
      </p:sp>
      <p:sp>
        <p:nvSpPr>
          <p:cNvPr id="5" name="Text 3"/>
          <p:cNvSpPr txBox="1"/>
          <p:nvPr/>
        </p:nvSpPr>
        <p:spPr>
          <a:xfrm>
            <a:off x="548640" y="2103120"/>
            <a:ext cx="2743200" cy="822960"/>
          </a:xfrm>
          <a:prstGeom prst="rect">
            <a:avLst/>
          </a:prstGeom>
          <a:noFill/>
          <a:ln/>
        </p:spPr>
        <p:txBody>
          <a:bodyPr wrap="square" lIns="0" tIns="0" rIns="0" bIns="0" rtlCol="0" anchor="ctr"/>
          <a:lstStyle/>
          <a:p>
            <a:pPr algn="ctr" indent="0" marL="0">
              <a:buNone/>
            </a:pPr>
            <a:r>
              <a:rPr lang="en-US" sz="3800" b="1" dirty="0">
                <a:solidFill>
                  <a:srgbClr val="E0674F"/>
                </a:solidFill>
                <a:latin typeface="Cambria" pitchFamily="34" charset="0"/>
                <a:ea typeface="Cambria" pitchFamily="34" charset="-122"/>
                <a:cs typeface="Cambria" pitchFamily="34" charset="-120"/>
              </a:rPr>
              <a:t>62.46%</a:t>
            </a:r>
            <a:endParaRPr lang="en-US" sz="3800" dirty="0"/>
          </a:p>
        </p:txBody>
      </p:sp>
      <p:sp>
        <p:nvSpPr>
          <p:cNvPr id="6" name="Text 4"/>
          <p:cNvSpPr txBox="1"/>
          <p:nvPr/>
        </p:nvSpPr>
        <p:spPr>
          <a:xfrm>
            <a:off x="548640" y="2971800"/>
            <a:ext cx="2743200" cy="457200"/>
          </a:xfrm>
          <a:prstGeom prst="rect">
            <a:avLst/>
          </a:prstGeom>
          <a:noFill/>
          <a:ln/>
        </p:spPr>
        <p:txBody>
          <a:bodyPr wrap="square" lIns="0" tIns="0" rIns="0" bIns="0" rtlCol="0" anchor="ctr"/>
          <a:lstStyle/>
          <a:p>
            <a:pPr algn="ctr" indent="0" marL="0">
              <a:buNone/>
            </a:pPr>
            <a:r>
              <a:rPr lang="en-US" sz="1500" dirty="0">
                <a:solidFill>
                  <a:srgbClr val="5B6B7A"/>
                </a:solidFill>
                <a:latin typeface="Calibri" pitchFamily="34" charset="0"/>
                <a:ea typeface="Calibri" pitchFamily="34" charset="-122"/>
                <a:cs typeface="Calibri" pitchFamily="34" charset="-120"/>
              </a:rPr>
              <a:t>Accuracy</a:t>
            </a:r>
            <a:endParaRPr lang="en-US" sz="1500" dirty="0"/>
          </a:p>
        </p:txBody>
      </p:sp>
      <p:sp>
        <p:nvSpPr>
          <p:cNvPr id="7" name="Shape 5"/>
          <p:cNvSpPr/>
          <p:nvPr/>
        </p:nvSpPr>
        <p:spPr>
          <a:xfrm>
            <a:off x="3474720" y="1828800"/>
            <a:ext cx="2743200" cy="1874520"/>
          </a:xfrm>
          <a:prstGeom prst="roundRect">
            <a:avLst>
              <a:gd name="adj" fmla="val 5854"/>
            </a:avLst>
          </a:prstGeom>
          <a:solidFill>
            <a:srgbClr val="F1F6F8"/>
          </a:solidFill>
          <a:ln w="12700">
            <a:solidFill>
              <a:srgbClr val="F1F6F8"/>
            </a:solidFill>
            <a:prstDash val="solid"/>
          </a:ln>
        </p:spPr>
      </p:sp>
      <p:sp>
        <p:nvSpPr>
          <p:cNvPr id="8" name="Text 6"/>
          <p:cNvSpPr txBox="1"/>
          <p:nvPr/>
        </p:nvSpPr>
        <p:spPr>
          <a:xfrm>
            <a:off x="3474720" y="2103120"/>
            <a:ext cx="2743200" cy="822960"/>
          </a:xfrm>
          <a:prstGeom prst="rect">
            <a:avLst/>
          </a:prstGeom>
          <a:noFill/>
          <a:ln/>
        </p:spPr>
        <p:txBody>
          <a:bodyPr wrap="square" lIns="0" tIns="0" rIns="0" bIns="0" rtlCol="0" anchor="ctr"/>
          <a:lstStyle/>
          <a:p>
            <a:pPr algn="ctr" indent="0" marL="0">
              <a:buNone/>
            </a:pPr>
            <a:r>
              <a:rPr lang="en-US" sz="3800" b="1" dirty="0">
                <a:solidFill>
                  <a:srgbClr val="1B8A93"/>
                </a:solidFill>
                <a:latin typeface="Cambria" pitchFamily="34" charset="0"/>
                <a:ea typeface="Cambria" pitchFamily="34" charset="-122"/>
                <a:cs typeface="Cambria" pitchFamily="34" charset="-120"/>
              </a:rPr>
              <a:t>0.3233</a:t>
            </a:r>
            <a:endParaRPr lang="en-US" sz="3800" dirty="0"/>
          </a:p>
        </p:txBody>
      </p:sp>
      <p:sp>
        <p:nvSpPr>
          <p:cNvPr id="9" name="Text 7"/>
          <p:cNvSpPr txBox="1"/>
          <p:nvPr/>
        </p:nvSpPr>
        <p:spPr>
          <a:xfrm>
            <a:off x="3474720" y="2971800"/>
            <a:ext cx="2743200" cy="457200"/>
          </a:xfrm>
          <a:prstGeom prst="rect">
            <a:avLst/>
          </a:prstGeom>
          <a:noFill/>
          <a:ln/>
        </p:spPr>
        <p:txBody>
          <a:bodyPr wrap="square" lIns="0" tIns="0" rIns="0" bIns="0" rtlCol="0" anchor="ctr"/>
          <a:lstStyle/>
          <a:p>
            <a:pPr algn="ctr" indent="0" marL="0">
              <a:buNone/>
            </a:pPr>
            <a:r>
              <a:rPr lang="en-US" sz="1500" dirty="0">
                <a:solidFill>
                  <a:srgbClr val="5B6B7A"/>
                </a:solidFill>
                <a:latin typeface="Calibri" pitchFamily="34" charset="0"/>
                <a:ea typeface="Calibri" pitchFamily="34" charset="-122"/>
                <a:cs typeface="Calibri" pitchFamily="34" charset="-120"/>
              </a:rPr>
              <a:t>Macro precision</a:t>
            </a:r>
            <a:endParaRPr lang="en-US" sz="1500" dirty="0"/>
          </a:p>
        </p:txBody>
      </p:sp>
      <p:sp>
        <p:nvSpPr>
          <p:cNvPr id="10" name="Shape 8"/>
          <p:cNvSpPr/>
          <p:nvPr/>
        </p:nvSpPr>
        <p:spPr>
          <a:xfrm>
            <a:off x="548640" y="3886200"/>
            <a:ext cx="2743200" cy="1874520"/>
          </a:xfrm>
          <a:prstGeom prst="roundRect">
            <a:avLst>
              <a:gd name="adj" fmla="val 5854"/>
            </a:avLst>
          </a:prstGeom>
          <a:solidFill>
            <a:srgbClr val="F1F6F8"/>
          </a:solidFill>
          <a:ln w="12700">
            <a:solidFill>
              <a:srgbClr val="F1F6F8"/>
            </a:solidFill>
            <a:prstDash val="solid"/>
          </a:ln>
        </p:spPr>
      </p:sp>
      <p:sp>
        <p:nvSpPr>
          <p:cNvPr id="11" name="Text 9"/>
          <p:cNvSpPr txBox="1"/>
          <p:nvPr/>
        </p:nvSpPr>
        <p:spPr>
          <a:xfrm>
            <a:off x="548640" y="4160520"/>
            <a:ext cx="2743200" cy="822960"/>
          </a:xfrm>
          <a:prstGeom prst="rect">
            <a:avLst/>
          </a:prstGeom>
          <a:noFill/>
          <a:ln/>
        </p:spPr>
        <p:txBody>
          <a:bodyPr wrap="square" lIns="0" tIns="0" rIns="0" bIns="0" rtlCol="0" anchor="ctr"/>
          <a:lstStyle/>
          <a:p>
            <a:pPr algn="ctr" indent="0" marL="0">
              <a:buNone/>
            </a:pPr>
            <a:r>
              <a:rPr lang="en-US" sz="3800" b="1" dirty="0">
                <a:solidFill>
                  <a:srgbClr val="1B8A93"/>
                </a:solidFill>
                <a:latin typeface="Cambria" pitchFamily="34" charset="0"/>
                <a:ea typeface="Cambria" pitchFamily="34" charset="-122"/>
                <a:cs typeface="Cambria" pitchFamily="34" charset="-120"/>
              </a:rPr>
              <a:t>0.3902</a:t>
            </a:r>
            <a:endParaRPr lang="en-US" sz="3800" dirty="0"/>
          </a:p>
        </p:txBody>
      </p:sp>
      <p:sp>
        <p:nvSpPr>
          <p:cNvPr id="12" name="Text 10"/>
          <p:cNvSpPr txBox="1"/>
          <p:nvPr/>
        </p:nvSpPr>
        <p:spPr>
          <a:xfrm>
            <a:off x="548640" y="5029200"/>
            <a:ext cx="2743200" cy="457200"/>
          </a:xfrm>
          <a:prstGeom prst="rect">
            <a:avLst/>
          </a:prstGeom>
          <a:noFill/>
          <a:ln/>
        </p:spPr>
        <p:txBody>
          <a:bodyPr wrap="square" lIns="0" tIns="0" rIns="0" bIns="0" rtlCol="0" anchor="ctr"/>
          <a:lstStyle/>
          <a:p>
            <a:pPr algn="ctr" indent="0" marL="0">
              <a:buNone/>
            </a:pPr>
            <a:r>
              <a:rPr lang="en-US" sz="1500" dirty="0">
                <a:solidFill>
                  <a:srgbClr val="5B6B7A"/>
                </a:solidFill>
                <a:latin typeface="Calibri" pitchFamily="34" charset="0"/>
                <a:ea typeface="Calibri" pitchFamily="34" charset="-122"/>
                <a:cs typeface="Calibri" pitchFamily="34" charset="-120"/>
              </a:rPr>
              <a:t>Macro recall</a:t>
            </a:r>
            <a:endParaRPr lang="en-US" sz="1500" dirty="0"/>
          </a:p>
        </p:txBody>
      </p:sp>
      <p:sp>
        <p:nvSpPr>
          <p:cNvPr id="13" name="Shape 11"/>
          <p:cNvSpPr/>
          <p:nvPr/>
        </p:nvSpPr>
        <p:spPr>
          <a:xfrm>
            <a:off x="3474720" y="3886200"/>
            <a:ext cx="2743200" cy="1874520"/>
          </a:xfrm>
          <a:prstGeom prst="roundRect">
            <a:avLst>
              <a:gd name="adj" fmla="val 5854"/>
            </a:avLst>
          </a:prstGeom>
          <a:solidFill>
            <a:srgbClr val="F1F6F8"/>
          </a:solidFill>
          <a:ln w="12700">
            <a:solidFill>
              <a:srgbClr val="F1F6F8"/>
            </a:solidFill>
            <a:prstDash val="solid"/>
          </a:ln>
        </p:spPr>
      </p:sp>
      <p:sp>
        <p:nvSpPr>
          <p:cNvPr id="14" name="Text 12"/>
          <p:cNvSpPr txBox="1"/>
          <p:nvPr/>
        </p:nvSpPr>
        <p:spPr>
          <a:xfrm>
            <a:off x="3474720" y="4160520"/>
            <a:ext cx="2743200" cy="822960"/>
          </a:xfrm>
          <a:prstGeom prst="rect">
            <a:avLst/>
          </a:prstGeom>
          <a:noFill/>
          <a:ln/>
        </p:spPr>
        <p:txBody>
          <a:bodyPr wrap="square" lIns="0" tIns="0" rIns="0" bIns="0" rtlCol="0" anchor="ctr"/>
          <a:lstStyle/>
          <a:p>
            <a:pPr algn="ctr" indent="0" marL="0">
              <a:buNone/>
            </a:pPr>
            <a:r>
              <a:rPr lang="en-US" sz="3800" b="1" dirty="0">
                <a:solidFill>
                  <a:srgbClr val="1B8A93"/>
                </a:solidFill>
                <a:latin typeface="Cambria" pitchFamily="34" charset="0"/>
                <a:ea typeface="Cambria" pitchFamily="34" charset="-122"/>
                <a:cs typeface="Cambria" pitchFamily="34" charset="-120"/>
              </a:rPr>
              <a:t>0.3263</a:t>
            </a:r>
            <a:endParaRPr lang="en-US" sz="3800" dirty="0"/>
          </a:p>
        </p:txBody>
      </p:sp>
      <p:sp>
        <p:nvSpPr>
          <p:cNvPr id="15" name="Text 13"/>
          <p:cNvSpPr txBox="1"/>
          <p:nvPr/>
        </p:nvSpPr>
        <p:spPr>
          <a:xfrm>
            <a:off x="3474720" y="5029200"/>
            <a:ext cx="2743200" cy="457200"/>
          </a:xfrm>
          <a:prstGeom prst="rect">
            <a:avLst/>
          </a:prstGeom>
          <a:noFill/>
          <a:ln/>
        </p:spPr>
        <p:txBody>
          <a:bodyPr wrap="square" lIns="0" tIns="0" rIns="0" bIns="0" rtlCol="0" anchor="ctr"/>
          <a:lstStyle/>
          <a:p>
            <a:pPr algn="ctr" indent="0" marL="0">
              <a:buNone/>
            </a:pPr>
            <a:r>
              <a:rPr lang="en-US" sz="1500" dirty="0">
                <a:solidFill>
                  <a:srgbClr val="5B6B7A"/>
                </a:solidFill>
                <a:latin typeface="Calibri" pitchFamily="34" charset="0"/>
                <a:ea typeface="Calibri" pitchFamily="34" charset="-122"/>
                <a:cs typeface="Calibri" pitchFamily="34" charset="-120"/>
              </a:rPr>
              <a:t>Macro F1-score</a:t>
            </a:r>
            <a:endParaRPr lang="en-US" sz="1500" dirty="0"/>
          </a:p>
        </p:txBody>
      </p:sp>
      <p:sp>
        <p:nvSpPr>
          <p:cNvPr id="16" name="Shape 14"/>
          <p:cNvSpPr/>
          <p:nvPr/>
        </p:nvSpPr>
        <p:spPr>
          <a:xfrm>
            <a:off x="6583680" y="1828800"/>
            <a:ext cx="5056632" cy="3931920"/>
          </a:xfrm>
          <a:prstGeom prst="roundRect">
            <a:avLst>
              <a:gd name="adj" fmla="val 2791"/>
            </a:avLst>
          </a:prstGeom>
          <a:solidFill>
            <a:srgbClr val="DCEEF0"/>
          </a:solidFill>
          <a:ln w="12700">
            <a:solidFill>
              <a:srgbClr val="DCEEF0"/>
            </a:solidFill>
            <a:prstDash val="solid"/>
          </a:ln>
        </p:spPr>
      </p:sp>
      <p:sp>
        <p:nvSpPr>
          <p:cNvPr id="17" name="Text 15"/>
          <p:cNvSpPr txBox="1"/>
          <p:nvPr/>
        </p:nvSpPr>
        <p:spPr>
          <a:xfrm>
            <a:off x="6858000" y="1965960"/>
            <a:ext cx="4572000" cy="411480"/>
          </a:xfrm>
          <a:prstGeom prst="rect">
            <a:avLst/>
          </a:prstGeom>
          <a:noFill/>
          <a:ln/>
        </p:spPr>
        <p:txBody>
          <a:bodyPr wrap="square" lIns="0" tIns="0" rIns="0" bIns="0" rtlCol="0" anchor="ctr"/>
          <a:lstStyle/>
          <a:p>
            <a:pPr indent="0" marL="0">
              <a:buNone/>
            </a:pPr>
            <a:r>
              <a:rPr lang="en-US" sz="1800" b="1" dirty="0">
                <a:solidFill>
                  <a:srgbClr val="10273A"/>
                </a:solidFill>
                <a:latin typeface="Cambria" pitchFamily="34" charset="0"/>
                <a:ea typeface="Cambria" pitchFamily="34" charset="-122"/>
                <a:cs typeface="Cambria" pitchFamily="34" charset="-120"/>
              </a:rPr>
              <a:t>Observations</a:t>
            </a:r>
            <a:endParaRPr lang="en-US" sz="1800" dirty="0"/>
          </a:p>
        </p:txBody>
      </p:sp>
      <p:sp>
        <p:nvSpPr>
          <p:cNvPr id="18" name="Text 16"/>
          <p:cNvSpPr txBox="1"/>
          <p:nvPr/>
        </p:nvSpPr>
        <p:spPr>
          <a:xfrm>
            <a:off x="6858000" y="2468880"/>
            <a:ext cx="4572000" cy="320040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1F2A37"/>
                </a:solidFill>
                <a:latin typeface="Calibri" pitchFamily="34" charset="0"/>
                <a:ea typeface="Calibri" pitchFamily="34" charset="-122"/>
                <a:cs typeface="Calibri" pitchFamily="34" charset="-120"/>
              </a:rPr>
              <a:t>Patient data alone is a weak predictor; the reference study shows a similar gap (77.0% vs 92.0% with images).</a:t>
            </a:r>
            <a:endParaRPr lang="en-US" sz="1450" dirty="0"/>
          </a:p>
          <a:p>
            <a:pPr marL="342900" indent="-342900">
              <a:spcAft>
                <a:spcPts val="900"/>
              </a:spcAft>
              <a:buSzPct val="100000"/>
              <a:buChar char="•"/>
            </a:pPr>
            <a:r>
              <a:rPr lang="en-US" sz="1450" dirty="0">
                <a:solidFill>
                  <a:srgbClr val="1F2A37"/>
                </a:solidFill>
                <a:latin typeface="Calibri" pitchFamily="34" charset="0"/>
                <a:ea typeface="Calibri" pitchFamily="34" charset="-122"/>
                <a:cs typeface="Calibri" pitchFamily="34" charset="-120"/>
              </a:rPr>
              <a:t>Macro precision and recall are much lower than accuracy, so rare classes are often missed.</a:t>
            </a:r>
            <a:endParaRPr lang="en-US" sz="1450" dirty="0"/>
          </a:p>
          <a:p>
            <a:pPr marL="342900" indent="-342900">
              <a:spcAft>
                <a:spcPts val="900"/>
              </a:spcAft>
              <a:buSzPct val="100000"/>
              <a:buChar char="•"/>
            </a:pPr>
            <a:r>
              <a:rPr lang="en-US" sz="1450" dirty="0">
                <a:solidFill>
                  <a:srgbClr val="1F2A37"/>
                </a:solidFill>
                <a:latin typeface="Calibri" pitchFamily="34" charset="0"/>
                <a:ea typeface="Calibri" pitchFamily="34" charset="-122"/>
                <a:cs typeface="Calibri" pitchFamily="34" charset="-120"/>
              </a:rPr>
              <a:t>About 67% of test images are NV, so always predicting NV gives ~67% accuracy; we therefore report macro scores.</a:t>
            </a:r>
            <a:endParaRPr lang="en-US" sz="1450" dirty="0"/>
          </a:p>
          <a:p>
            <a:pPr marL="342900" indent="-342900">
              <a:spcAft>
                <a:spcPts val="900"/>
              </a:spcAft>
              <a:buSzPct val="100000"/>
              <a:buChar char="•"/>
            </a:pPr>
            <a:r>
              <a:rPr lang="en-US" sz="1450" dirty="0">
                <a:solidFill>
                  <a:srgbClr val="1F2A37"/>
                </a:solidFill>
                <a:latin typeface="Calibri" pitchFamily="34" charset="0"/>
                <a:ea typeface="Calibri" pitchFamily="34" charset="-122"/>
                <a:cs typeface="Calibri" pitchFamily="34" charset="-120"/>
              </a:rPr>
              <a:t>Not directly comparable with the reference study (77.0%) because we split by lesion.</a:t>
            </a:r>
            <a:endParaRPr lang="en-US" sz="1450" dirty="0"/>
          </a:p>
        </p:txBody>
      </p:sp>
      <p:sp>
        <p:nvSpPr>
          <p:cNvPr id="19" name="Text 17"/>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300" i="1" dirty="0">
                <a:solidFill>
                  <a:srgbClr val="5B6B7A"/>
                </a:solidFill>
                <a:latin typeface="Calibri" pitchFamily="34" charset="0"/>
                <a:ea typeface="Calibri" pitchFamily="34" charset="-122"/>
                <a:cs typeface="Calibri" pitchFamily="34" charset="-120"/>
              </a:rPr>
              <a:t>Training of the image and combined models is in progress.</a:t>
            </a:r>
            <a:endParaRPr lang="en-US" sz="1300" dirty="0"/>
          </a:p>
        </p:txBody>
      </p:sp>
      <p:sp>
        <p:nvSpPr>
          <p:cNvPr id="20"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21" name="Text 19"/>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0273A"/>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 &amp; Future Work</a:t>
            </a:r>
            <a:endParaRPr lang="en-US" sz="3400" dirty="0"/>
          </a:p>
        </p:txBody>
      </p:sp>
      <p:sp>
        <p:nvSpPr>
          <p:cNvPr id="3" name="Shape 1"/>
          <p:cNvSpPr/>
          <p:nvPr/>
        </p:nvSpPr>
        <p:spPr>
          <a:xfrm>
            <a:off x="548640" y="1371600"/>
            <a:ext cx="5394960" cy="4069080"/>
          </a:xfrm>
          <a:prstGeom prst="roundRect">
            <a:avLst>
              <a:gd name="adj" fmla="val 2697"/>
            </a:avLst>
          </a:prstGeom>
          <a:solidFill>
            <a:srgbClr val="1A3A52"/>
          </a:solidFill>
          <a:ln w="12700">
            <a:solidFill>
              <a:srgbClr val="1A3A52"/>
            </a:solidFill>
            <a:prstDash val="solid"/>
          </a:ln>
        </p:spPr>
      </p:sp>
      <p:sp>
        <p:nvSpPr>
          <p:cNvPr id="4" name="Text 2"/>
          <p:cNvSpPr txBox="1"/>
          <p:nvPr/>
        </p:nvSpPr>
        <p:spPr>
          <a:xfrm>
            <a:off x="822960" y="150876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Current status</a:t>
            </a:r>
            <a:endParaRPr lang="en-US" sz="2000" dirty="0"/>
          </a:p>
        </p:txBody>
      </p:sp>
      <p:sp>
        <p:nvSpPr>
          <p:cNvPr id="5" name="Shape 3"/>
          <p:cNvSpPr/>
          <p:nvPr/>
        </p:nvSpPr>
        <p:spPr>
          <a:xfrm>
            <a:off x="822960" y="2167128"/>
            <a:ext cx="1325880" cy="329184"/>
          </a:xfrm>
          <a:prstGeom prst="roundRect">
            <a:avLst>
              <a:gd name="adj" fmla="val 50000"/>
            </a:avLst>
          </a:prstGeom>
          <a:solidFill>
            <a:srgbClr val="1B8A93"/>
          </a:solidFill>
          <a:ln w="12700">
            <a:solidFill>
              <a:srgbClr val="1B8A93"/>
            </a:solidFill>
            <a:prstDash val="solid"/>
          </a:ln>
        </p:spPr>
      </p:sp>
      <p:sp>
        <p:nvSpPr>
          <p:cNvPr id="6" name="Text 4"/>
          <p:cNvSpPr txBox="1"/>
          <p:nvPr/>
        </p:nvSpPr>
        <p:spPr>
          <a:xfrm>
            <a:off x="822960" y="216712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Completed</a:t>
            </a:r>
            <a:endParaRPr lang="en-US" sz="1200" dirty="0"/>
          </a:p>
        </p:txBody>
      </p:sp>
      <p:sp>
        <p:nvSpPr>
          <p:cNvPr id="7" name="Text 5"/>
          <p:cNvSpPr txBox="1"/>
          <p:nvPr/>
        </p:nvSpPr>
        <p:spPr>
          <a:xfrm>
            <a:off x="822960" y="2560320"/>
            <a:ext cx="4846320" cy="548640"/>
          </a:xfrm>
          <a:prstGeom prst="rect">
            <a:avLst/>
          </a:prstGeom>
          <a:noFill/>
          <a:ln/>
        </p:spPr>
        <p:txBody>
          <a:bodyPr wrap="square" lIns="0" tIns="0" rIns="0" bIns="0" rtlCol="0" anchor="t"/>
          <a:lstStyle/>
          <a:p>
            <a:pPr indent="0" marL="0">
              <a:buNone/>
            </a:pPr>
            <a:r>
              <a:rPr lang="en-US" sz="1400" dirty="0">
                <a:solidFill>
                  <a:srgbClr val="E3EEF1"/>
                </a:solidFill>
                <a:latin typeface="Calibri" pitchFamily="34" charset="0"/>
                <a:ea typeface="Calibri" pitchFamily="34" charset="-122"/>
                <a:cs typeface="Calibri" pitchFamily="34" charset="-120"/>
              </a:rPr>
              <a:t>Data pipeline, clinical data baseline (62.5% accuracy, 0.33 macro F1) and full TensorFlow code</a:t>
            </a:r>
            <a:endParaRPr lang="en-US" sz="1400" dirty="0"/>
          </a:p>
        </p:txBody>
      </p:sp>
      <p:sp>
        <p:nvSpPr>
          <p:cNvPr id="8" name="Shape 6"/>
          <p:cNvSpPr/>
          <p:nvPr/>
        </p:nvSpPr>
        <p:spPr>
          <a:xfrm>
            <a:off x="822960" y="3246120"/>
            <a:ext cx="1325880" cy="329184"/>
          </a:xfrm>
          <a:prstGeom prst="roundRect">
            <a:avLst>
              <a:gd name="adj" fmla="val 50000"/>
            </a:avLst>
          </a:prstGeom>
          <a:solidFill>
            <a:srgbClr val="E0674F"/>
          </a:solidFill>
          <a:ln w="12700">
            <a:solidFill>
              <a:srgbClr val="E0674F"/>
            </a:solidFill>
            <a:prstDash val="solid"/>
          </a:ln>
        </p:spPr>
      </p:sp>
      <p:sp>
        <p:nvSpPr>
          <p:cNvPr id="9" name="Text 7"/>
          <p:cNvSpPr txBox="1"/>
          <p:nvPr/>
        </p:nvSpPr>
        <p:spPr>
          <a:xfrm>
            <a:off x="822960" y="3246120"/>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p>
        </p:txBody>
      </p:sp>
      <p:sp>
        <p:nvSpPr>
          <p:cNvPr id="10" name="Text 8"/>
          <p:cNvSpPr txBox="1"/>
          <p:nvPr/>
        </p:nvSpPr>
        <p:spPr>
          <a:xfrm>
            <a:off x="822960" y="3639312"/>
            <a:ext cx="4846320" cy="548640"/>
          </a:xfrm>
          <a:prstGeom prst="rect">
            <a:avLst/>
          </a:prstGeom>
          <a:noFill/>
          <a:ln/>
        </p:spPr>
        <p:txBody>
          <a:bodyPr wrap="square" lIns="0" tIns="0" rIns="0" bIns="0" rtlCol="0" anchor="t"/>
          <a:lstStyle/>
          <a:p>
            <a:pPr indent="0" marL="0">
              <a:buNone/>
            </a:pPr>
            <a:r>
              <a:rPr lang="en-US" sz="1400" dirty="0">
                <a:solidFill>
                  <a:srgbClr val="E3EEF1"/>
                </a:solidFill>
                <a:latin typeface="Calibri" pitchFamily="34" charset="0"/>
                <a:ea typeface="Calibri" pitchFamily="34" charset="-122"/>
                <a:cs typeface="Calibri" pitchFamily="34" charset="-120"/>
              </a:rPr>
              <a:t>Training the proposed model and the comparison models (incl. SE and CBAM)</a:t>
            </a:r>
            <a:endParaRPr lang="en-US" sz="1400" dirty="0"/>
          </a:p>
        </p:txBody>
      </p:sp>
      <p:sp>
        <p:nvSpPr>
          <p:cNvPr id="11" name="Shape 9"/>
          <p:cNvSpPr/>
          <p:nvPr/>
        </p:nvSpPr>
        <p:spPr>
          <a:xfrm>
            <a:off x="822960" y="4325112"/>
            <a:ext cx="1325880" cy="329184"/>
          </a:xfrm>
          <a:prstGeom prst="roundRect">
            <a:avLst>
              <a:gd name="adj" fmla="val 50000"/>
            </a:avLst>
          </a:prstGeom>
          <a:solidFill>
            <a:srgbClr val="5F7080"/>
          </a:solidFill>
          <a:ln w="12700">
            <a:solidFill>
              <a:srgbClr val="5F7080"/>
            </a:solidFill>
            <a:prstDash val="solid"/>
          </a:ln>
        </p:spPr>
      </p:sp>
      <p:sp>
        <p:nvSpPr>
          <p:cNvPr id="12" name="Text 10"/>
          <p:cNvSpPr txBox="1"/>
          <p:nvPr/>
        </p:nvSpPr>
        <p:spPr>
          <a:xfrm>
            <a:off x="822960" y="4325112"/>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Planned</a:t>
            </a:r>
            <a:endParaRPr lang="en-US" sz="1200" dirty="0"/>
          </a:p>
        </p:txBody>
      </p:sp>
      <p:sp>
        <p:nvSpPr>
          <p:cNvPr id="13" name="Text 11"/>
          <p:cNvSpPr txBox="1"/>
          <p:nvPr/>
        </p:nvSpPr>
        <p:spPr>
          <a:xfrm>
            <a:off x="822960" y="4718304"/>
            <a:ext cx="4846320" cy="548640"/>
          </a:xfrm>
          <a:prstGeom prst="rect">
            <a:avLst/>
          </a:prstGeom>
          <a:noFill/>
          <a:ln/>
        </p:spPr>
        <p:txBody>
          <a:bodyPr wrap="square" lIns="0" tIns="0" rIns="0" bIns="0" rtlCol="0" anchor="t"/>
          <a:lstStyle/>
          <a:p>
            <a:pPr indent="0" marL="0">
              <a:buNone/>
            </a:pPr>
            <a:r>
              <a:rPr lang="en-US" sz="1400" dirty="0">
                <a:solidFill>
                  <a:srgbClr val="E3EEF1"/>
                </a:solidFill>
                <a:latin typeface="Calibri" pitchFamily="34" charset="0"/>
                <a:ea typeface="Calibri" pitchFamily="34" charset="-122"/>
                <a:cs typeface="Calibri" pitchFamily="34" charset="-120"/>
              </a:rPr>
              <a:t>Runs with 3 seeds, significance tests and testing on a new dataset</a:t>
            </a:r>
            <a:endParaRPr lang="en-US" sz="1400" dirty="0"/>
          </a:p>
        </p:txBody>
      </p:sp>
      <p:sp>
        <p:nvSpPr>
          <p:cNvPr id="14" name="Shape 12"/>
          <p:cNvSpPr/>
          <p:nvPr/>
        </p:nvSpPr>
        <p:spPr>
          <a:xfrm>
            <a:off x="6245352" y="1371600"/>
            <a:ext cx="5394960" cy="4069080"/>
          </a:xfrm>
          <a:prstGeom prst="roundRect">
            <a:avLst>
              <a:gd name="adj" fmla="val 2697"/>
            </a:avLst>
          </a:prstGeom>
          <a:solidFill>
            <a:srgbClr val="1A3A52"/>
          </a:solidFill>
          <a:ln w="12700">
            <a:solidFill>
              <a:srgbClr val="1A3A52"/>
            </a:solidFill>
            <a:prstDash val="solid"/>
          </a:ln>
        </p:spPr>
      </p:sp>
      <p:sp>
        <p:nvSpPr>
          <p:cNvPr id="15" name="Text 13"/>
          <p:cNvSpPr txBox="1"/>
          <p:nvPr/>
        </p:nvSpPr>
        <p:spPr>
          <a:xfrm>
            <a:off x="6519672" y="150876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Future work</a:t>
            </a:r>
            <a:endParaRPr lang="en-US" sz="2000" dirty="0"/>
          </a:p>
        </p:txBody>
      </p:sp>
      <p:sp>
        <p:nvSpPr>
          <p:cNvPr id="16" name="Shape 14"/>
          <p:cNvSpPr/>
          <p:nvPr/>
        </p:nvSpPr>
        <p:spPr>
          <a:xfrm>
            <a:off x="6519672" y="2313432"/>
            <a:ext cx="402336" cy="402336"/>
          </a:xfrm>
          <a:prstGeom prst="ellipse">
            <a:avLst/>
          </a:prstGeom>
          <a:solidFill>
            <a:srgbClr val="E0674F"/>
          </a:solidFill>
          <a:ln w="12700">
            <a:solidFill>
              <a:srgbClr val="E0674F"/>
            </a:solidFill>
            <a:prstDash val="solid"/>
          </a:ln>
        </p:spPr>
      </p:sp>
      <p:sp>
        <p:nvSpPr>
          <p:cNvPr id="17" name="Text 15"/>
          <p:cNvSpPr txBox="1"/>
          <p:nvPr/>
        </p:nvSpPr>
        <p:spPr>
          <a:xfrm>
            <a:off x="6519672" y="23134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8" name="Text 16"/>
          <p:cNvSpPr txBox="1"/>
          <p:nvPr/>
        </p:nvSpPr>
        <p:spPr>
          <a:xfrm>
            <a:off x="7132320" y="2148840"/>
            <a:ext cx="4297680" cy="731520"/>
          </a:xfrm>
          <a:prstGeom prst="rect">
            <a:avLst/>
          </a:prstGeom>
          <a:noFill/>
          <a:ln/>
        </p:spPr>
        <p:txBody>
          <a:bodyPr wrap="square" lIns="0" tIns="0" rIns="0" bIns="0" rtlCol="0" anchor="ctr"/>
          <a:lstStyle/>
          <a:p>
            <a:pPr indent="0" marL="0">
              <a:buNone/>
            </a:pPr>
            <a:r>
              <a:rPr lang="en-US" sz="1400" dirty="0">
                <a:solidFill>
                  <a:srgbClr val="E3EEF1"/>
                </a:solidFill>
                <a:latin typeface="Calibri" pitchFamily="34" charset="0"/>
                <a:ea typeface="Calibri" pitchFamily="34" charset="-122"/>
                <a:cs typeface="Calibri" pitchFamily="34" charset="-120"/>
              </a:rPr>
              <a:t>Train all models and report the ablation and attention comparison results</a:t>
            </a:r>
            <a:endParaRPr lang="en-US" sz="1400" dirty="0"/>
          </a:p>
        </p:txBody>
      </p:sp>
      <p:sp>
        <p:nvSpPr>
          <p:cNvPr id="19" name="Shape 17"/>
          <p:cNvSpPr/>
          <p:nvPr/>
        </p:nvSpPr>
        <p:spPr>
          <a:xfrm>
            <a:off x="6519672" y="3136392"/>
            <a:ext cx="402336" cy="402336"/>
          </a:xfrm>
          <a:prstGeom prst="ellipse">
            <a:avLst/>
          </a:prstGeom>
          <a:solidFill>
            <a:srgbClr val="1B8A93"/>
          </a:solidFill>
          <a:ln w="12700">
            <a:solidFill>
              <a:srgbClr val="1B8A93"/>
            </a:solidFill>
            <a:prstDash val="solid"/>
          </a:ln>
        </p:spPr>
      </p:sp>
      <p:sp>
        <p:nvSpPr>
          <p:cNvPr id="20" name="Text 18"/>
          <p:cNvSpPr txBox="1"/>
          <p:nvPr/>
        </p:nvSpPr>
        <p:spPr>
          <a:xfrm>
            <a:off x="6519672" y="31363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1" name="Text 19"/>
          <p:cNvSpPr txBox="1"/>
          <p:nvPr/>
        </p:nvSpPr>
        <p:spPr>
          <a:xfrm>
            <a:off x="7132320" y="2971800"/>
            <a:ext cx="4297680" cy="731520"/>
          </a:xfrm>
          <a:prstGeom prst="rect">
            <a:avLst/>
          </a:prstGeom>
          <a:noFill/>
          <a:ln/>
        </p:spPr>
        <p:txBody>
          <a:bodyPr wrap="square" lIns="0" tIns="0" rIns="0" bIns="0" rtlCol="0" anchor="ctr"/>
          <a:lstStyle/>
          <a:p>
            <a:pPr indent="0" marL="0">
              <a:buNone/>
            </a:pPr>
            <a:r>
              <a:rPr lang="en-US" sz="1400" dirty="0">
                <a:solidFill>
                  <a:srgbClr val="E3EEF1"/>
                </a:solidFill>
                <a:latin typeface="Calibri" pitchFamily="34" charset="0"/>
                <a:ea typeface="Calibri" pitchFamily="34" charset="-122"/>
                <a:cs typeface="Calibri" pitchFamily="34" charset="-120"/>
              </a:rPr>
              <a:t>Repeat key models with 3 seeds and check significance (McNemar's test)</a:t>
            </a:r>
            <a:endParaRPr lang="en-US" sz="1400" dirty="0"/>
          </a:p>
        </p:txBody>
      </p:sp>
      <p:sp>
        <p:nvSpPr>
          <p:cNvPr id="22" name="Shape 20"/>
          <p:cNvSpPr/>
          <p:nvPr/>
        </p:nvSpPr>
        <p:spPr>
          <a:xfrm>
            <a:off x="6519672" y="3959352"/>
            <a:ext cx="402336" cy="402336"/>
          </a:xfrm>
          <a:prstGeom prst="ellipse">
            <a:avLst/>
          </a:prstGeom>
          <a:solidFill>
            <a:srgbClr val="1B8A93"/>
          </a:solidFill>
          <a:ln w="12700">
            <a:solidFill>
              <a:srgbClr val="1B8A93"/>
            </a:solidFill>
            <a:prstDash val="solid"/>
          </a:ln>
        </p:spPr>
      </p:sp>
      <p:sp>
        <p:nvSpPr>
          <p:cNvPr id="23" name="Text 21"/>
          <p:cNvSpPr txBox="1"/>
          <p:nvPr/>
        </p:nvSpPr>
        <p:spPr>
          <a:xfrm>
            <a:off x="6519672" y="39593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4" name="Text 22"/>
          <p:cNvSpPr txBox="1"/>
          <p:nvPr/>
        </p:nvSpPr>
        <p:spPr>
          <a:xfrm>
            <a:off x="7132320" y="3794760"/>
            <a:ext cx="4297680" cy="731520"/>
          </a:xfrm>
          <a:prstGeom prst="rect">
            <a:avLst/>
          </a:prstGeom>
          <a:noFill/>
          <a:ln/>
        </p:spPr>
        <p:txBody>
          <a:bodyPr wrap="square" lIns="0" tIns="0" rIns="0" bIns="0" rtlCol="0" anchor="ctr"/>
          <a:lstStyle/>
          <a:p>
            <a:pPr indent="0" marL="0">
              <a:buNone/>
            </a:pPr>
            <a:r>
              <a:rPr lang="en-US" sz="1400" dirty="0">
                <a:solidFill>
                  <a:srgbClr val="E3EEF1"/>
                </a:solidFill>
                <a:latin typeface="Calibri" pitchFamily="34" charset="0"/>
                <a:ea typeface="Calibri" pitchFamily="34" charset="-122"/>
                <a:cs typeface="Calibri" pitchFamily="34" charset="-120"/>
              </a:rPr>
              <a:t>Explain predictions with attention maps and Grad-CAM; report melanoma sensitivity</a:t>
            </a:r>
            <a:endParaRPr lang="en-US" sz="1400" dirty="0"/>
          </a:p>
        </p:txBody>
      </p:sp>
      <p:sp>
        <p:nvSpPr>
          <p:cNvPr id="25" name="Shape 23"/>
          <p:cNvSpPr/>
          <p:nvPr/>
        </p:nvSpPr>
        <p:spPr>
          <a:xfrm>
            <a:off x="6519672" y="4782312"/>
            <a:ext cx="402336" cy="402336"/>
          </a:xfrm>
          <a:prstGeom prst="ellipse">
            <a:avLst/>
          </a:prstGeom>
          <a:solidFill>
            <a:srgbClr val="1B8A93"/>
          </a:solidFill>
          <a:ln w="12700">
            <a:solidFill>
              <a:srgbClr val="1B8A93"/>
            </a:solidFill>
            <a:prstDash val="solid"/>
          </a:ln>
        </p:spPr>
      </p:sp>
      <p:sp>
        <p:nvSpPr>
          <p:cNvPr id="26" name="Text 24"/>
          <p:cNvSpPr txBox="1"/>
          <p:nvPr/>
        </p:nvSpPr>
        <p:spPr>
          <a:xfrm>
            <a:off x="6519672" y="47823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Text 25"/>
          <p:cNvSpPr txBox="1"/>
          <p:nvPr/>
        </p:nvSpPr>
        <p:spPr>
          <a:xfrm>
            <a:off x="7132320" y="4617720"/>
            <a:ext cx="4297680" cy="731520"/>
          </a:xfrm>
          <a:prstGeom prst="rect">
            <a:avLst/>
          </a:prstGeom>
          <a:noFill/>
          <a:ln/>
        </p:spPr>
        <p:txBody>
          <a:bodyPr wrap="square" lIns="0" tIns="0" rIns="0" bIns="0" rtlCol="0" anchor="ctr"/>
          <a:lstStyle/>
          <a:p>
            <a:pPr indent="0" marL="0">
              <a:buNone/>
            </a:pPr>
            <a:r>
              <a:rPr lang="en-US" sz="1400" dirty="0">
                <a:solidFill>
                  <a:srgbClr val="E3EEF1"/>
                </a:solidFill>
                <a:latin typeface="Calibri" pitchFamily="34" charset="0"/>
                <a:ea typeface="Calibri" pitchFamily="34" charset="-122"/>
                <a:cs typeface="Calibri" pitchFamily="34" charset="-120"/>
              </a:rPr>
              <a:t>Test on ISIC 2019 or PAD-UFES-20 and write the research paper</a:t>
            </a:r>
            <a:endParaRPr lang="en-US" sz="1400" dirty="0"/>
          </a:p>
        </p:txBody>
      </p:sp>
      <p:sp>
        <p:nvSpPr>
          <p:cNvPr id="28" name="Shape 26"/>
          <p:cNvSpPr/>
          <p:nvPr/>
        </p:nvSpPr>
        <p:spPr>
          <a:xfrm>
            <a:off x="548640" y="5623560"/>
            <a:ext cx="11091672" cy="640080"/>
          </a:xfrm>
          <a:prstGeom prst="roundRect">
            <a:avLst>
              <a:gd name="adj" fmla="val 17143"/>
            </a:avLst>
          </a:prstGeom>
          <a:solidFill>
            <a:srgbClr val="1B8A93"/>
          </a:solidFill>
          <a:ln w="12700">
            <a:solidFill>
              <a:srgbClr val="1B8A93"/>
            </a:solidFill>
            <a:prstDash val="solid"/>
          </a:ln>
        </p:spPr>
      </p:sp>
      <p:sp>
        <p:nvSpPr>
          <p:cNvPr id="29" name="Text 27"/>
          <p:cNvSpPr txBox="1"/>
          <p:nvPr/>
        </p:nvSpPr>
        <p:spPr>
          <a:xfrm>
            <a:off x="822960" y="5623560"/>
            <a:ext cx="1060704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Patient data alone is not enough; combining it with attention-based image features is the way forward.</a:t>
            </a:r>
            <a:endParaRPr lang="en-US" sz="1600" dirty="0"/>
          </a:p>
        </p:txBody>
      </p:sp>
      <p:sp>
        <p:nvSpPr>
          <p:cNvPr id="30" name="Text 2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31" name="Text 29"/>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0273A"/>
        </a:solidFill>
      </p:bgPr>
    </p:bg>
    <p:spTree>
      <p:nvGrpSpPr>
        <p:cNvPr id="1" name=""/>
        <p:cNvGrpSpPr/>
        <p:nvPr/>
      </p:nvGrpSpPr>
      <p:grpSpPr>
        <a:xfrm>
          <a:off x="0" y="0"/>
          <a:ext cx="0" cy="0"/>
          <a:chOff x="0" y="0"/>
          <a:chExt cx="0" cy="0"/>
        </a:xfrm>
      </p:grpSpPr>
      <p:sp>
        <p:nvSpPr>
          <p:cNvPr id="2" name="Text 0"/>
          <p:cNvSpPr txBox="1"/>
          <p:nvPr/>
        </p:nvSpPr>
        <p:spPr>
          <a:xfrm>
            <a:off x="640080" y="1554480"/>
            <a:ext cx="7315200" cy="128016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Q&amp;A</a:t>
            </a:r>
            <a:endParaRPr lang="en-US" sz="6600" dirty="0"/>
          </a:p>
        </p:txBody>
      </p:sp>
      <p:sp>
        <p:nvSpPr>
          <p:cNvPr id="3" name="Text 1"/>
          <p:cNvSpPr txBox="1"/>
          <p:nvPr/>
        </p:nvSpPr>
        <p:spPr>
          <a:xfrm>
            <a:off x="640080" y="3017520"/>
            <a:ext cx="7315200" cy="457200"/>
          </a:xfrm>
          <a:prstGeom prst="rect">
            <a:avLst/>
          </a:prstGeom>
          <a:noFill/>
          <a:ln/>
        </p:spPr>
        <p:txBody>
          <a:bodyPr wrap="square" lIns="0" tIns="0" rIns="0" bIns="0" rtlCol="0" anchor="ctr"/>
          <a:lstStyle/>
          <a:p>
            <a:pPr indent="0" marL="0">
              <a:buNone/>
            </a:pPr>
            <a:r>
              <a:rPr lang="en-US" sz="2000" dirty="0">
                <a:solidFill>
                  <a:srgbClr val="7FC8CE"/>
                </a:solidFill>
                <a:latin typeface="Calibri" pitchFamily="34" charset="0"/>
                <a:ea typeface="Calibri" pitchFamily="34" charset="-122"/>
                <a:cs typeface="Calibri" pitchFamily="34" charset="-120"/>
              </a:rPr>
              <a:t>Points for discussion:</a:t>
            </a:r>
            <a:endParaRPr lang="en-US" sz="2000" dirty="0"/>
          </a:p>
        </p:txBody>
      </p:sp>
      <p:sp>
        <p:nvSpPr>
          <p:cNvPr id="4" name="Text 2"/>
          <p:cNvSpPr txBox="1"/>
          <p:nvPr/>
        </p:nvSpPr>
        <p:spPr>
          <a:xfrm>
            <a:off x="640080" y="3566160"/>
            <a:ext cx="7315200" cy="16459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3EEF1"/>
                </a:solidFill>
                <a:latin typeface="Calibri" pitchFamily="34" charset="0"/>
                <a:ea typeface="Calibri" pitchFamily="34" charset="-122"/>
                <a:cs typeface="Calibri" pitchFamily="34" charset="-120"/>
              </a:rPr>
              <a:t>The lesion-level data split and why it matters</a:t>
            </a:r>
            <a:endParaRPr lang="en-US" sz="1800" dirty="0"/>
          </a:p>
          <a:p>
            <a:pPr marL="342900" indent="-342900">
              <a:spcAft>
                <a:spcPts val="800"/>
              </a:spcAft>
              <a:buSzPct val="100000"/>
              <a:buChar char="•"/>
            </a:pPr>
            <a:r>
              <a:rPr lang="en-US" sz="1800" dirty="0">
                <a:solidFill>
                  <a:srgbClr val="E3EEF1"/>
                </a:solidFill>
                <a:latin typeface="Calibri" pitchFamily="34" charset="0"/>
                <a:ea typeface="Calibri" pitchFamily="34" charset="-122"/>
                <a:cs typeface="Calibri" pitchFamily="34" charset="-120"/>
              </a:rPr>
              <a:t>The attention block and how it compares with SE and CBAM</a:t>
            </a:r>
            <a:endParaRPr lang="en-US" sz="1800" dirty="0"/>
          </a:p>
          <a:p>
            <a:pPr marL="342900" indent="-342900">
              <a:spcAft>
                <a:spcPts val="800"/>
              </a:spcAft>
              <a:buSzPct val="100000"/>
              <a:buChar char="•"/>
            </a:pPr>
            <a:r>
              <a:rPr lang="en-US" sz="1800" dirty="0">
                <a:solidFill>
                  <a:srgbClr val="E3EEF1"/>
                </a:solidFill>
                <a:latin typeface="Calibri" pitchFamily="34" charset="0"/>
                <a:ea typeface="Calibri" pitchFamily="34" charset="-122"/>
                <a:cs typeface="Calibri" pitchFamily="34" charset="-120"/>
              </a:rPr>
              <a:t>Next experiments: seed repeats, significance tests, a new dataset</a:t>
            </a:r>
            <a:endParaRPr lang="en-US" sz="1800" dirty="0"/>
          </a:p>
        </p:txBody>
      </p:sp>
      <p:sp>
        <p:nvSpPr>
          <p:cNvPr id="5" name="Shape 3"/>
          <p:cNvSpPr/>
          <p:nvPr/>
        </p:nvSpPr>
        <p:spPr>
          <a:xfrm>
            <a:off x="9418320" y="2148840"/>
            <a:ext cx="1737360" cy="1737360"/>
          </a:xfrm>
          <a:prstGeom prst="ellipse">
            <a:avLst/>
          </a:prstGeom>
          <a:solidFill>
            <a:srgbClr val="E0674F"/>
          </a:solidFill>
          <a:ln w="12700">
            <a:solidFill>
              <a:srgbClr val="E0674F"/>
            </a:solidFill>
            <a:prstDash val="solid"/>
          </a:ln>
        </p:spPr>
      </p:sp>
      <p:pic>
        <p:nvPicPr>
          <p:cNvPr id="6" name="Image 0" descr="preencoded.png">    </p:cNvPr>
          <p:cNvPicPr>
            <a:picLocks noChangeAspect="1"/>
          </p:cNvPicPr>
          <p:nvPr/>
        </p:nvPicPr>
        <p:blipFill>
          <a:blip r:embed="rId1"/>
          <a:stretch>
            <a:fillRect/>
          </a:stretch>
        </p:blipFill>
        <p:spPr>
          <a:xfrm>
            <a:off x="9887407" y="2617927"/>
            <a:ext cx="799186" cy="799186"/>
          </a:xfrm>
          <a:prstGeom prst="rect">
            <a:avLst/>
          </a:prstGeom>
        </p:spPr>
      </p:pic>
      <p:sp>
        <p:nvSpPr>
          <p:cNvPr id="7" name="Shape 4"/>
          <p:cNvSpPr/>
          <p:nvPr/>
        </p:nvSpPr>
        <p:spPr>
          <a:xfrm>
            <a:off x="8686800" y="4160520"/>
            <a:ext cx="914400" cy="914400"/>
          </a:xfrm>
          <a:prstGeom prst="ellipse">
            <a:avLst/>
          </a:prstGeom>
          <a:solidFill>
            <a:srgbClr val="1B8A93"/>
          </a:solidFill>
          <a:ln w="12700">
            <a:solidFill>
              <a:srgbClr val="1B8A93"/>
            </a:solidFill>
            <a:prstDash val="solid"/>
          </a:ln>
        </p:spPr>
      </p:sp>
      <p:pic>
        <p:nvPicPr>
          <p:cNvPr id="8" name="Image 1" descr="preencoded.png">    </p:cNvPr>
          <p:cNvPicPr>
            <a:picLocks noChangeAspect="1"/>
          </p:cNvPicPr>
          <p:nvPr/>
        </p:nvPicPr>
        <p:blipFill>
          <a:blip r:embed="rId2"/>
          <a:stretch>
            <a:fillRect/>
          </a:stretch>
        </p:blipFill>
        <p:spPr>
          <a:xfrm>
            <a:off x="8933688" y="4407408"/>
            <a:ext cx="420624" cy="420624"/>
          </a:xfrm>
          <a:prstGeom prst="rect">
            <a:avLst/>
          </a:prstGeom>
        </p:spPr>
      </p:pic>
      <p:sp>
        <p:nvSpPr>
          <p:cNvPr id="9" name="Shape 5"/>
          <p:cNvSpPr/>
          <p:nvPr/>
        </p:nvSpPr>
        <p:spPr>
          <a:xfrm>
            <a:off x="10881360" y="4160520"/>
            <a:ext cx="914400" cy="914400"/>
          </a:xfrm>
          <a:prstGeom prst="ellipse">
            <a:avLst/>
          </a:prstGeom>
          <a:solidFill>
            <a:srgbClr val="1B8A93"/>
          </a:solidFill>
          <a:ln w="12700">
            <a:solidFill>
              <a:srgbClr val="1B8A93"/>
            </a:solidFill>
            <a:prstDash val="solid"/>
          </a:ln>
        </p:spPr>
      </p:sp>
      <p:pic>
        <p:nvPicPr>
          <p:cNvPr id="10" name="Image 2" descr="preencoded.png">    </p:cNvPr>
          <p:cNvPicPr>
            <a:picLocks noChangeAspect="1"/>
          </p:cNvPicPr>
          <p:nvPr/>
        </p:nvPicPr>
        <p:blipFill>
          <a:blip r:embed="rId3"/>
          <a:stretch>
            <a:fillRect/>
          </a:stretch>
        </p:blipFill>
        <p:spPr>
          <a:xfrm>
            <a:off x="11128248" y="4407408"/>
            <a:ext cx="420624" cy="420624"/>
          </a:xfrm>
          <a:prstGeom prst="rect">
            <a:avLst/>
          </a:prstGeom>
        </p:spPr>
      </p:pic>
      <p:sp>
        <p:nvSpPr>
          <p:cNvPr id="11"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12" name="Text 7"/>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0273A"/>
        </a:solidFill>
      </p:bgPr>
    </p:bg>
    <p:spTree>
      <p:nvGrpSpPr>
        <p:cNvPr id="1" name=""/>
        <p:cNvGrpSpPr/>
        <p:nvPr/>
      </p:nvGrpSpPr>
      <p:grpSpPr>
        <a:xfrm>
          <a:off x="0" y="0"/>
          <a:ext cx="0" cy="0"/>
          <a:chOff x="0" y="0"/>
          <a:chExt cx="0" cy="0"/>
        </a:xfrm>
      </p:grpSpPr>
      <p:sp>
        <p:nvSpPr>
          <p:cNvPr id="2" name="Text 0"/>
          <p:cNvSpPr txBox="1"/>
          <p:nvPr/>
        </p:nvSpPr>
        <p:spPr>
          <a:xfrm>
            <a:off x="640080" y="2011680"/>
            <a:ext cx="7772400" cy="12801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640080" y="3566160"/>
            <a:ext cx="8229600" cy="457200"/>
          </a:xfrm>
          <a:prstGeom prst="rect">
            <a:avLst/>
          </a:prstGeom>
          <a:noFill/>
          <a:ln/>
        </p:spPr>
        <p:txBody>
          <a:bodyPr wrap="square" lIns="0" tIns="0" rIns="0" bIns="0" rtlCol="0" anchor="ctr"/>
          <a:lstStyle/>
          <a:p>
            <a:pPr indent="0" marL="0">
              <a:buNone/>
            </a:pPr>
            <a:r>
              <a:rPr lang="en-US" sz="2000" dirty="0">
                <a:solidFill>
                  <a:srgbClr val="7FC8CE"/>
                </a:solidFill>
                <a:latin typeface="Calibri" pitchFamily="34" charset="0"/>
                <a:ea typeface="Calibri" pitchFamily="34" charset="-122"/>
                <a:cs typeface="Calibri" pitchFamily="34" charset="-120"/>
              </a:rPr>
              <a:t>Mentor: Dr. Himanshu Gajera  |  Evaluator: Dr. Amit Singh</a:t>
            </a:r>
            <a:endParaRPr lang="en-US" sz="2000" dirty="0"/>
          </a:p>
        </p:txBody>
      </p:sp>
      <p:sp>
        <p:nvSpPr>
          <p:cNvPr id="4" name="Text 2"/>
          <p:cNvSpPr txBox="1"/>
          <p:nvPr/>
        </p:nvSpPr>
        <p:spPr>
          <a:xfrm>
            <a:off x="640080" y="4206240"/>
            <a:ext cx="8229600" cy="365760"/>
          </a:xfrm>
          <a:prstGeom prst="rect">
            <a:avLst/>
          </a:prstGeom>
          <a:noFill/>
          <a:ln/>
        </p:spPr>
        <p:txBody>
          <a:bodyPr wrap="square" lIns="0" tIns="0" rIns="0" bIns="0" rtlCol="0" anchor="ctr"/>
          <a:lstStyle/>
          <a:p>
            <a:pPr indent="0" marL="0">
              <a:buNone/>
            </a:pPr>
            <a:r>
              <a:rPr lang="en-US" sz="1600" dirty="0">
                <a:solidFill>
                  <a:srgbClr val="9FB0BD"/>
                </a:solidFill>
                <a:latin typeface="Calibri" pitchFamily="34" charset="0"/>
                <a:ea typeface="Calibri" pitchFamily="34" charset="-122"/>
                <a:cs typeface="Calibri" pitchFamily="34" charset="-120"/>
              </a:rPr>
              <a:t>Dilip Kohar (23BCP201)  |  Harichand Loniya (23BCP167)</a:t>
            </a:r>
            <a:endParaRPr lang="en-US" sz="1600" dirty="0"/>
          </a:p>
        </p:txBody>
      </p:sp>
      <p:sp>
        <p:nvSpPr>
          <p:cNvPr id="5" name="Shape 3"/>
          <p:cNvSpPr/>
          <p:nvPr/>
        </p:nvSpPr>
        <p:spPr>
          <a:xfrm>
            <a:off x="9692640" y="2377440"/>
            <a:ext cx="1463040" cy="1463040"/>
          </a:xfrm>
          <a:prstGeom prst="ellipse">
            <a:avLst/>
          </a:prstGeom>
          <a:solidFill>
            <a:srgbClr val="E0674F"/>
          </a:solidFill>
          <a:ln w="12700">
            <a:solidFill>
              <a:srgbClr val="E0674F"/>
            </a:solidFill>
            <a:prstDash val="solid"/>
          </a:ln>
        </p:spPr>
      </p:sp>
      <p:pic>
        <p:nvPicPr>
          <p:cNvPr id="6" name="Image 0" descr="preencoded.png">    </p:cNvPr>
          <p:cNvPicPr>
            <a:picLocks noChangeAspect="1"/>
          </p:cNvPicPr>
          <p:nvPr/>
        </p:nvPicPr>
        <p:blipFill>
          <a:blip r:embed="rId1"/>
          <a:stretch>
            <a:fillRect/>
          </a:stretch>
        </p:blipFill>
        <p:spPr>
          <a:xfrm>
            <a:off x="10087661" y="2772461"/>
            <a:ext cx="672998" cy="672998"/>
          </a:xfrm>
          <a:prstGeom prst="rect">
            <a:avLst/>
          </a:prstGeom>
        </p:spPr>
      </p:pic>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Multi-Modal Skin Disease Detection  |  Minor Project Mid-Term</a:t>
            </a:r>
            <a:endParaRPr lang="en-US" sz="1000" dirty="0"/>
          </a:p>
        </p:txBody>
      </p:sp>
      <p:sp>
        <p:nvSpPr>
          <p:cNvPr id="8" name="Text 5"/>
          <p:cNvSpPr txBox="1"/>
          <p:nvPr/>
        </p:nvSpPr>
        <p:spPr>
          <a:xfrm>
            <a:off x="10972800" y="6400800"/>
            <a:ext cx="667512"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Multi-Modal Deep Learning Framework for Early Detection of Skin Diseases</dc:title>
  <dc:subject>PptxGenJS Presentation</dc:subject>
  <dc:creator>PptxGenJS</dc:creator>
  <cp:lastModifiedBy>PptxGenJS</cp:lastModifiedBy>
  <cp:revision>1</cp:revision>
  <dcterms:created xsi:type="dcterms:W3CDTF">2026-09-28T04:30:02Z</dcterms:created>
  <dcterms:modified xsi:type="dcterms:W3CDTF">2026-09-28T04:30:02Z</dcterms:modified>
</cp:coreProperties>
</file>